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5_0.xml" ContentType="application/vnd.ms-powerpoint.comments+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13386A1-0BB0-6F69-B194-68D43677B590}" name="Estuardo Rafael Oliver Campos" initials="EO" userId="c62c69182c2c436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381" autoAdjust="0"/>
    <p:restoredTop sz="94610"/>
  </p:normalViewPr>
  <p:slideViewPr>
    <p:cSldViewPr snapToGrid="0" snapToObjects="1">
      <p:cViewPr varScale="1">
        <p:scale>
          <a:sx n="89" d="100"/>
          <a:sy n="89" d="100"/>
        </p:scale>
        <p:origin x="5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12343B"/>
                </a:solidFill>
                <a:latin typeface="Calibri"/>
              </a:defRPr>
            </a:pPr>
            <a:r>
              <a:rPr lang="es-ES" sz="1200" b="0" i="0" u="none" strike="noStrike">
                <a:solidFill>
                  <a:srgbClr val="12343B"/>
                </a:solidFill>
                <a:latin typeface="Calibri"/>
              </a:rPr>
              <a:t>Ángulo del codo en una repetición (°)</a:t>
            </a:r>
          </a:p>
        </c:rich>
      </c:tx>
      <c:overlay val="0"/>
    </c:title>
    <c:autoTitleDeleted val="0"/>
    <c:plotArea>
      <c:layout/>
      <c:lineChart>
        <c:grouping val="standard"/>
        <c:varyColors val="0"/>
        <c:ser>
          <c:idx val="0"/>
          <c:order val="0"/>
          <c:tx>
            <c:strRef>
              <c:f>Sheet1!$B$1</c:f>
              <c:strCache>
                <c:ptCount val="1"/>
                <c:pt idx="0">
                  <c:v>Patrón del terapeuta</c:v>
                </c:pt>
              </c:strCache>
            </c:strRef>
          </c:tx>
          <c:spPr>
            <a:ln w="38100" cap="flat">
              <a:solidFill>
                <a:srgbClr val="0E7C7B"/>
              </a:solidFill>
              <a:prstDash val="solid"/>
              <a:round/>
            </a:ln>
            <a:effectLst/>
          </c:spPr>
          <c:marker>
            <c:symbol val="none"/>
          </c:marker>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160</c:v>
                </c:pt>
                <c:pt idx="1">
                  <c:v>157</c:v>
                </c:pt>
                <c:pt idx="2">
                  <c:v>147</c:v>
                </c:pt>
                <c:pt idx="3">
                  <c:v>133</c:v>
                </c:pt>
                <c:pt idx="4">
                  <c:v>115</c:v>
                </c:pt>
                <c:pt idx="5">
                  <c:v>95</c:v>
                </c:pt>
                <c:pt idx="6">
                  <c:v>76</c:v>
                </c:pt>
                <c:pt idx="7">
                  <c:v>59</c:v>
                </c:pt>
                <c:pt idx="8">
                  <c:v>47</c:v>
                </c:pt>
                <c:pt idx="9">
                  <c:v>41</c:v>
                </c:pt>
                <c:pt idx="10">
                  <c:v>41</c:v>
                </c:pt>
                <c:pt idx="11">
                  <c:v>47</c:v>
                </c:pt>
                <c:pt idx="12">
                  <c:v>59</c:v>
                </c:pt>
                <c:pt idx="13">
                  <c:v>76</c:v>
                </c:pt>
                <c:pt idx="14">
                  <c:v>95</c:v>
                </c:pt>
                <c:pt idx="15">
                  <c:v>115</c:v>
                </c:pt>
                <c:pt idx="16">
                  <c:v>133</c:v>
                </c:pt>
                <c:pt idx="17">
                  <c:v>147</c:v>
                </c:pt>
                <c:pt idx="18">
                  <c:v>157</c:v>
                </c:pt>
                <c:pt idx="19">
                  <c:v>160</c:v>
                </c:pt>
                <c:pt idx="20">
                  <c:v>160</c:v>
                </c:pt>
                <c:pt idx="21">
                  <c:v>160</c:v>
                </c:pt>
                <c:pt idx="22">
                  <c:v>160</c:v>
                </c:pt>
                <c:pt idx="23">
                  <c:v>160</c:v>
                </c:pt>
                <c:pt idx="24">
                  <c:v>160</c:v>
                </c:pt>
                <c:pt idx="25">
                  <c:v>160</c:v>
                </c:pt>
                <c:pt idx="26">
                  <c:v>160</c:v>
                </c:pt>
                <c:pt idx="27">
                  <c:v>160</c:v>
                </c:pt>
                <c:pt idx="28">
                  <c:v>160</c:v>
                </c:pt>
                <c:pt idx="29">
                  <c:v>160</c:v>
                </c:pt>
              </c:numCache>
            </c:numRef>
          </c:val>
          <c:smooth val="0"/>
          <c:extLst>
            <c:ext xmlns:c16="http://schemas.microsoft.com/office/drawing/2014/chart" uri="{C3380CC4-5D6E-409C-BE32-E72D297353CC}">
              <c16:uniqueId val="{00000000-3C7F-4863-9351-EC9B48BCE103}"/>
            </c:ext>
          </c:extLst>
        </c:ser>
        <c:ser>
          <c:idx val="1"/>
          <c:order val="1"/>
          <c:tx>
            <c:strRef>
              <c:f>Sheet1!$C$1</c:f>
              <c:strCache>
                <c:ptCount val="1"/>
                <c:pt idx="0">
                  <c:v>Paciente (más lento, menos rango)</c:v>
                </c:pt>
              </c:strCache>
            </c:strRef>
          </c:tx>
          <c:spPr>
            <a:ln w="38100" cap="flat">
              <a:solidFill>
                <a:srgbClr val="FF6B5B"/>
              </a:solidFill>
              <a:prstDash val="solid"/>
              <a:round/>
            </a:ln>
            <a:effectLst/>
          </c:spPr>
          <c:marker>
            <c:symbol val="none"/>
          </c:marker>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Sheet1!$C$2:$C$31</c:f>
              <c:numCache>
                <c:formatCode>General</c:formatCode>
                <c:ptCount val="30"/>
                <c:pt idx="0">
                  <c:v>160</c:v>
                </c:pt>
                <c:pt idx="1">
                  <c:v>159</c:v>
                </c:pt>
                <c:pt idx="2">
                  <c:v>155</c:v>
                </c:pt>
                <c:pt idx="3">
                  <c:v>149</c:v>
                </c:pt>
                <c:pt idx="4">
                  <c:v>141</c:v>
                </c:pt>
                <c:pt idx="5">
                  <c:v>132</c:v>
                </c:pt>
                <c:pt idx="6">
                  <c:v>122</c:v>
                </c:pt>
                <c:pt idx="7">
                  <c:v>110</c:v>
                </c:pt>
                <c:pt idx="8">
                  <c:v>99</c:v>
                </c:pt>
                <c:pt idx="9">
                  <c:v>88</c:v>
                </c:pt>
                <c:pt idx="10">
                  <c:v>78</c:v>
                </c:pt>
                <c:pt idx="11">
                  <c:v>69</c:v>
                </c:pt>
                <c:pt idx="12">
                  <c:v>63</c:v>
                </c:pt>
                <c:pt idx="13">
                  <c:v>58</c:v>
                </c:pt>
                <c:pt idx="14">
                  <c:v>55</c:v>
                </c:pt>
                <c:pt idx="15">
                  <c:v>55</c:v>
                </c:pt>
                <c:pt idx="16">
                  <c:v>58</c:v>
                </c:pt>
                <c:pt idx="17">
                  <c:v>63</c:v>
                </c:pt>
                <c:pt idx="18">
                  <c:v>69</c:v>
                </c:pt>
                <c:pt idx="19">
                  <c:v>78</c:v>
                </c:pt>
                <c:pt idx="20">
                  <c:v>88</c:v>
                </c:pt>
                <c:pt idx="21">
                  <c:v>99</c:v>
                </c:pt>
                <c:pt idx="22">
                  <c:v>110</c:v>
                </c:pt>
                <c:pt idx="23">
                  <c:v>122</c:v>
                </c:pt>
                <c:pt idx="24">
                  <c:v>132</c:v>
                </c:pt>
                <c:pt idx="25">
                  <c:v>141</c:v>
                </c:pt>
                <c:pt idx="26">
                  <c:v>149</c:v>
                </c:pt>
                <c:pt idx="27">
                  <c:v>155</c:v>
                </c:pt>
                <c:pt idx="28">
                  <c:v>159</c:v>
                </c:pt>
                <c:pt idx="29">
                  <c:v>160</c:v>
                </c:pt>
              </c:numCache>
            </c:numRef>
          </c:val>
          <c:smooth val="0"/>
          <c:extLst>
            <c:ext xmlns:c16="http://schemas.microsoft.com/office/drawing/2014/chart" uri="{C3380CC4-5D6E-409C-BE32-E72D297353CC}">
              <c16:uniqueId val="{00000001-3C7F-4863-9351-EC9B48BCE10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5B7680"/>
                    </a:solidFill>
                    <a:latin typeface="Arial"/>
                  </a:defRPr>
                </a:pPr>
                <a:r>
                  <a:rPr lang="en-US" sz="900" b="0" i="0" u="none" strike="noStrike">
                    <a:solidFill>
                      <a:srgbClr val="5B7680"/>
                    </a:solidFill>
                    <a:latin typeface="Arial"/>
                  </a:rPr>
                  <a:t>cuadros de video</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7680"/>
                </a:solidFill>
                <a:latin typeface="Arial"/>
              </a:defRPr>
            </a:pPr>
            <a:endParaRPr lang="en-US"/>
          </a:p>
        </c:txPr>
        <c:crossAx val="2094734552"/>
        <c:crosses val="autoZero"/>
        <c:auto val="1"/>
        <c:lblAlgn val="ctr"/>
        <c:lblOffset val="100"/>
        <c:tickLblSkip val="5"/>
        <c:noMultiLvlLbl val="1"/>
      </c:catAx>
      <c:valAx>
        <c:axId val="2094734552"/>
        <c:scaling>
          <c:orientation val="minMax"/>
          <c:max val="170"/>
          <c:min val="30"/>
        </c:scaling>
        <c:delete val="0"/>
        <c:axPos val="l"/>
        <c:majorGridlines>
          <c:spPr>
            <a:ln w="6350" cap="flat">
              <a:solidFill>
                <a:srgbClr val="E3EC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680"/>
                </a:solidFill>
                <a:latin typeface="Arial"/>
              </a:defRPr>
            </a:pPr>
            <a:endParaRPr lang="en-US"/>
          </a:p>
        </c:txPr>
        <c:crossAx val="2094734554"/>
        <c:crosses val="autoZero"/>
        <c:crossBetween val="between"/>
        <c:majorUnit val="35"/>
      </c:valAx>
      <c:spPr>
        <a:noFill/>
        <a:ln>
          <a:noFill/>
        </a:ln>
        <a:effectLst/>
      </c:spPr>
    </c:plotArea>
    <c:legend>
      <c:legendPos val="b"/>
      <c:overlay val="0"/>
      <c:txPr>
        <a:bodyPr/>
        <a:lstStyle/>
        <a:p>
          <a:pPr>
            <a:defRPr sz="1000">
              <a:solidFill>
                <a:srgbClr val="12343B"/>
              </a:solidFill>
            </a:defRPr>
          </a:pPr>
          <a:endParaRPr lang="en-US"/>
        </a:p>
      </c:txPr>
    </c:legend>
    <c:plotVisOnly val="1"/>
    <c:dispBlanksAs val="span"/>
    <c:showDLblsOverMax val="1"/>
  </c:chart>
  <c:spPr>
    <a:noFill/>
    <a:ln>
      <a:noFill/>
    </a:ln>
    <a:effectLst/>
  </c:spPr>
  <c:externalData r:id="rId1">
    <c:autoUpdate val="0"/>
  </c:externalData>
</c:chartSpace>
</file>

<file path=ppt/comments/modernComment_105_0.xml><?xml version="1.0" encoding="utf-8"?>
<p188:cmLst xmlns:a="http://schemas.openxmlformats.org/drawingml/2006/main" xmlns:r="http://schemas.openxmlformats.org/officeDocument/2006/relationships" xmlns:p188="http://schemas.microsoft.com/office/powerpoint/2018/8/main">
  <p188:cm id="{CB9CA0E6-E8E4-406C-90C5-9468C202FB26}" authorId="{D13386A1-0BB0-6F69-B194-68D43677B590}" created="2026-09-17T01:18:30.298">
    <pc:sldMkLst xmlns:pc="http://schemas.microsoft.com/office/powerpoint/2013/main/command">
      <pc:docMk/>
      <pc:sldMk cId="0" sldId="261"/>
    </pc:sldMkLst>
    <p188:txBody>
      <a:bodyPr/>
      <a:lstStyle/>
      <a:p>
        <a:r>
          <a:rPr lang="es-ES"/>
          <a:t>-Calidad del movimiento
-Requisitos minimos del equipo 
-Accuracy
Como detectarias que no es fraude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342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 HOOK (pregunta).
"¿Qué pasaría si una persona pudiera saber, mientras realiza un ejercicio de rehabilitación en casa, si lo está haciendo correctamente…" [CLIC] "…sin necesidad de tener a un especialista al lado?"
[CLIC ×3] Datos que respaldan la pregunta: 50–65% no cumple su programa en casa; 2.400 millones podrían beneficiarse de rehabilitación; faltan especialistas.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 PROBLEMA (interacción con el público).
"Hoy, muchos ejercicios de rehabilitación requieren que el paciente repita determinados movimientos de manera correcta y constante. El problema es que, fuera de una sesión con el fisioterapeuta, ¿quién verifica que el movimiento se esté realizando correctamente?"
Pregunta al público: ¿A o B? → haz clic SOBRE la figura A y luego sobre la B para revelar la respuesta (disparadores).
[CLIC en espacio libre / flecha] → aparece: "En casa nadie corrige".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 SOLUCIÓN.
"Ahí aparece nuestro proyecto. Estamos desarrollando un sistema de visión computacional capaz de analizar el movimiento de una persona a través de una cámara."
[CLIC] "El sistema identifica el cuerpo mediante puntos clave —keypoints—,"
[CLIC] "construye el esqueleto de las articulaciones…"
[CLIC] "…y la trayectoria, para analizar cómo se ejecuta cada repetición."
[CLIC] cierre de la lámina.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 LA DIFERENCIA.
"Pero no queremos simplemente detectar si una persona se mueve. Queremos entender cómo se mueve. Por ejemplo, si una persona realiza una flexión de brazo, nuestro modelo puede analizar…"
[CLIC] "…el ángulo del codo," [CLIC] "la posición del hombro," [CLIC] "la trayectoria de la mano" [CLIC] "y la velocidad del movimiento."
"A partir de esto, podemos comparar la ejecución con un patrón de referencia y detectar desviaciones. La diferencia está en pasar de contar repeticiones a evaluar el movimiento."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 ARQUITECTURA.
"Nuestra arquitectura plantea un pipeline que va desde…"
[CLIC] "…la captura del video," [CLIC] "detección de keypoints" [CLIC] "y normalización del movimiento," [CLIC] "hasta el análisis temporal de la repetición" [CLIC] "y la generación de feedback."
[CLIC] Remata: comparamos trayectorias, no imágenes sueltas.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 EL RETO.
"Y aquí está una de las partes más importantes del proyecto: el movimiento de cada persona es diferente."
[CLIC] "Una persona puede ser más alta o más baja," [CLIC] "tener diferente velocidad" [CLIC] "o realizar el ejercicio con una amplitud distinta."
"Por eso necesitamos técnicas de normalización y modelos temporales capaces de comparar trayectorias, no solamente imágenes individuales."
[CLIC] Señala el gráfico: el paciente es más lento y flexiona menos; DTW alinea ambas curvas y da el % de parecido.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 MVP.
"Nuestro MVP se enfocará inicialmente en un conjunto reducido de ejercicios de rehabilitación, donde el sistema pueda…"
[CLIC] "…identificar la repetición," [CLIC] "analizar su ejecución" [CLIC] "y entregar indicadores comprensibles para el usuario."
Tabla: somos los únicos que evalúan la calidad sin sensores y con el patrón del propio terapeuta.
[CLIC ×3] Hoja de ruta: POC → Prototipo → MVP en 30 días.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 MERCADO.
[CLIC] Telerehabilitación: USD 4,7 mil M en 2023, creciendo 14,1% anual. [CLIC] En Perú, 3,2 millones de personas con limitación permanente. [CLIC] Meta del primer año: 20 clínicas en Lima.
[CLIC] Modelo: S/ 30 por paciente activo al mes (propuesta a validar); la IA corre en el dispositivo, así que el costo de servidor es bajo.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 CIERRE.
"El objetivo final no es reemplazar al fisioterapeuta. Es convertir una cámara en una herramienta de apoyo que permita obtener información objetiva sobre cómo se está realizando un ejercicio, incluso fuera de la consulta."
"Hoy una cámara puede reconocer una cara, un objeto o una persona. Nosotros queremos llevar esa capacidad al movimiento humano."
[CLIC ×3] "Ese es nuestro objetivo: transformar movimiento en datos, y datos en feedback útil para la rehabilitación."
[CLIC] Equipo. [CLIC] Llamado a la acción. Termina mirando al jurado (lenguaje corporal).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slide" Target="slide1.xml"/><Relationship Id="rId7" Type="http://schemas.openxmlformats.org/officeDocument/2006/relationships/slide" Target="slide8.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1.png"/><Relationship Id="rId7" Type="http://schemas.openxmlformats.org/officeDocument/2006/relationships/slide" Target="slide1.xml"/><Relationship Id="rId12"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slide" Target="slide8.xml"/><Relationship Id="rId5" Type="http://schemas.openxmlformats.org/officeDocument/2006/relationships/image" Target="../media/image3.png"/><Relationship Id="rId10" Type="http://schemas.openxmlformats.org/officeDocument/2006/relationships/slide" Target="slide7.xml"/><Relationship Id="rId4" Type="http://schemas.openxmlformats.org/officeDocument/2006/relationships/image" Target="../media/image2.png"/><Relationship Id="rId9" Type="http://schemas.openxmlformats.org/officeDocument/2006/relationships/slide" Target="slide5.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slide" Target="slide7.xml"/><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slide" Target="slide3.xml"/><Relationship Id="rId5" Type="http://schemas.openxmlformats.org/officeDocument/2006/relationships/image" Target="../media/image7.png"/><Relationship Id="rId15" Type="http://schemas.openxmlformats.org/officeDocument/2006/relationships/slide" Target="slide9.xml"/><Relationship Id="rId10" Type="http://schemas.openxmlformats.org/officeDocument/2006/relationships/slide" Target="slide1.xml"/><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slide" Target="slide8.xml"/></Relationships>
</file>

<file path=ppt/slides/_rels/slide4.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12.png"/><Relationship Id="rId7" Type="http://schemas.openxmlformats.org/officeDocument/2006/relationships/slide" Target="slide1.xml"/><Relationship Id="rId12" Type="http://schemas.openxmlformats.org/officeDocument/2006/relationships/slide" Target="slide9.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slide" Target="slide8.xml"/><Relationship Id="rId5" Type="http://schemas.openxmlformats.org/officeDocument/2006/relationships/image" Target="../media/image14.png"/><Relationship Id="rId10" Type="http://schemas.openxmlformats.org/officeDocument/2006/relationships/slide" Target="slide7.xml"/><Relationship Id="rId4" Type="http://schemas.openxmlformats.org/officeDocument/2006/relationships/image" Target="../media/image13.png"/><Relationship Id="rId9" Type="http://schemas.openxmlformats.org/officeDocument/2006/relationships/slide" Target="slide5.xml"/></Relationships>
</file>

<file path=ppt/slides/_rels/slide5.xml.rels><?xml version="1.0" encoding="UTF-8" standalone="yes"?>
<Relationships xmlns="http://schemas.openxmlformats.org/package/2006/relationships"><Relationship Id="rId8" Type="http://schemas.openxmlformats.org/officeDocument/2006/relationships/slide" Target="slide1.xml"/><Relationship Id="rId13" Type="http://schemas.openxmlformats.org/officeDocument/2006/relationships/slide" Target="slide9.xml"/><Relationship Id="rId3" Type="http://schemas.openxmlformats.org/officeDocument/2006/relationships/image" Target="../media/image16.png"/><Relationship Id="rId7" Type="http://schemas.openxmlformats.org/officeDocument/2006/relationships/image" Target="../media/image19.png"/><Relationship Id="rId12" Type="http://schemas.openxmlformats.org/officeDocument/2006/relationships/slide" Target="slide8.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slide" Target="slide7.xml"/><Relationship Id="rId5" Type="http://schemas.openxmlformats.org/officeDocument/2006/relationships/image" Target="../media/image17.png"/><Relationship Id="rId10" Type="http://schemas.openxmlformats.org/officeDocument/2006/relationships/slide" Target="slide5.xml"/><Relationship Id="rId4" Type="http://schemas.openxmlformats.org/officeDocument/2006/relationships/image" Target="../media/image9.png"/><Relationship Id="rId9" Type="http://schemas.openxmlformats.org/officeDocument/2006/relationships/slide" Target="slide3.xml"/></Relationships>
</file>

<file path=ppt/slides/_rels/slide6.xml.rels><?xml version="1.0" encoding="UTF-8" standalone="yes"?>
<Relationships xmlns="http://schemas.openxmlformats.org/package/2006/relationships"><Relationship Id="rId8" Type="http://schemas.openxmlformats.org/officeDocument/2006/relationships/slide" Target="slide1.xml"/><Relationship Id="rId13" Type="http://schemas.openxmlformats.org/officeDocument/2006/relationships/slide" Target="slide9.xml"/><Relationship Id="rId3" Type="http://schemas.microsoft.com/office/2018/10/relationships/comments" Target="../comments/modernComment_105_0.xml"/><Relationship Id="rId7" Type="http://schemas.openxmlformats.org/officeDocument/2006/relationships/chart" Target="../charts/chart1.xml"/><Relationship Id="rId12" Type="http://schemas.openxmlformats.org/officeDocument/2006/relationships/slide" Target="slide8.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slide" Target="slide7.xml"/><Relationship Id="rId5" Type="http://schemas.openxmlformats.org/officeDocument/2006/relationships/image" Target="../media/image21.png"/><Relationship Id="rId10" Type="http://schemas.openxmlformats.org/officeDocument/2006/relationships/slide" Target="slide5.xml"/><Relationship Id="rId4" Type="http://schemas.openxmlformats.org/officeDocument/2006/relationships/image" Target="../media/image20.png"/><Relationship Id="rId9" Type="http://schemas.openxmlformats.org/officeDocument/2006/relationships/slide" Target="slide3.xml"/></Relationships>
</file>

<file path=ppt/slides/_rels/slide7.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23.png"/><Relationship Id="rId7"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slide" Target="slide1.xml"/><Relationship Id="rId11" Type="http://schemas.openxmlformats.org/officeDocument/2006/relationships/slide" Target="slide9.xml"/><Relationship Id="rId5" Type="http://schemas.openxmlformats.org/officeDocument/2006/relationships/image" Target="../media/image25.png"/><Relationship Id="rId10" Type="http://schemas.openxmlformats.org/officeDocument/2006/relationships/slide" Target="slide8.xml"/><Relationship Id="rId4" Type="http://schemas.openxmlformats.org/officeDocument/2006/relationships/image" Target="../media/image24.png"/><Relationship Id="rId9" Type="http://schemas.openxmlformats.org/officeDocument/2006/relationships/slide" Target="slide7.xml"/></Relationships>
</file>

<file path=ppt/slides/_rels/slide8.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26.png"/><Relationship Id="rId7"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slide" Target="slide1.xml"/><Relationship Id="rId11" Type="http://schemas.openxmlformats.org/officeDocument/2006/relationships/slide" Target="slide9.xml"/><Relationship Id="rId5" Type="http://schemas.openxmlformats.org/officeDocument/2006/relationships/image" Target="../media/image28.png"/><Relationship Id="rId10" Type="http://schemas.openxmlformats.org/officeDocument/2006/relationships/slide" Target="slide8.xml"/><Relationship Id="rId4" Type="http://schemas.openxmlformats.org/officeDocument/2006/relationships/image" Target="../media/image27.png"/><Relationship Id="rId9" Type="http://schemas.openxmlformats.org/officeDocument/2006/relationships/slide" Target="slide7.xml"/></Relationships>
</file>

<file path=ppt/slides/_rels/slide9.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29.png"/><Relationship Id="rId7"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slide" Target="slide1.xml"/><Relationship Id="rId11" Type="http://schemas.openxmlformats.org/officeDocument/2006/relationships/slide" Target="slide9.xml"/><Relationship Id="rId5" Type="http://schemas.openxmlformats.org/officeDocument/2006/relationships/image" Target="../media/image31.png"/><Relationship Id="rId10" Type="http://schemas.openxmlformats.org/officeDocument/2006/relationships/slide" Target="slide8.xml"/><Relationship Id="rId4" Type="http://schemas.openxmlformats.org/officeDocument/2006/relationships/image" Target="../media/image30.png"/><Relationship Id="rId9" Type="http://schemas.openxmlformats.org/officeDocument/2006/relationships/slide" Target="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33"/>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572000" cy="274320"/>
          </a:xfrm>
          <a:prstGeom prst="rect">
            <a:avLst/>
          </a:prstGeom>
          <a:noFill/>
          <a:ln/>
        </p:spPr>
        <p:txBody>
          <a:bodyPr wrap="square" lIns="0" tIns="0" rIns="0" bIns="0" rtlCol="0" anchor="ctr"/>
          <a:lstStyle/>
          <a:p>
            <a:pPr marL="0" indent="0">
              <a:buNone/>
            </a:pPr>
            <a:r>
              <a:rPr lang="en-US" sz="1100" b="1" kern="0" spc="300" dirty="0">
                <a:solidFill>
                  <a:srgbClr val="5FD3B5"/>
                </a:solidFill>
                <a:latin typeface="Calibri" pitchFamily="34" charset="0"/>
                <a:ea typeface="Calibri" pitchFamily="34" charset="-122"/>
                <a:cs typeface="Calibri" pitchFamily="34" charset="-120"/>
              </a:rPr>
              <a:t>HOOK</a:t>
            </a:r>
            <a:endParaRPr lang="en-US" sz="1100" dirty="0"/>
          </a:p>
        </p:txBody>
      </p:sp>
      <p:sp>
        <p:nvSpPr>
          <p:cNvPr id="3" name="Text 1"/>
          <p:cNvSpPr txBox="1"/>
          <p:nvPr/>
        </p:nvSpPr>
        <p:spPr>
          <a:xfrm>
            <a:off x="457200" y="666573"/>
            <a:ext cx="8229600" cy="1188720"/>
          </a:xfrm>
          <a:prstGeom prst="rect">
            <a:avLst/>
          </a:prstGeom>
          <a:noFill/>
          <a:ln/>
        </p:spPr>
        <p:txBody>
          <a:bodyPr wrap="square" lIns="0" tIns="0" rIns="0" bIns="0" rtlCol="0" anchor="ctr"/>
          <a:lstStyle/>
          <a:p>
            <a:r>
              <a:rPr lang="en-US" sz="2800" dirty="0">
                <a:solidFill>
                  <a:schemeClr val="bg1"/>
                </a:solidFill>
              </a:rPr>
              <a:t>“¿Y </a:t>
            </a:r>
            <a:r>
              <a:rPr lang="en-US" sz="2800" dirty="0" err="1">
                <a:solidFill>
                  <a:schemeClr val="bg1"/>
                </a:solidFill>
              </a:rPr>
              <a:t>si</a:t>
            </a:r>
            <a:r>
              <a:rPr lang="en-US" sz="2800" dirty="0">
                <a:solidFill>
                  <a:schemeClr val="bg1"/>
                </a:solidFill>
              </a:rPr>
              <a:t> </a:t>
            </a:r>
            <a:r>
              <a:rPr lang="en-US" sz="2800" dirty="0" err="1">
                <a:solidFill>
                  <a:schemeClr val="bg1"/>
                </a:solidFill>
              </a:rPr>
              <a:t>pudieras</a:t>
            </a:r>
            <a:r>
              <a:rPr lang="en-US" sz="2800" dirty="0">
                <a:solidFill>
                  <a:schemeClr val="bg1"/>
                </a:solidFill>
              </a:rPr>
              <a:t> </a:t>
            </a:r>
            <a:r>
              <a:rPr lang="en-US" sz="2800" dirty="0" err="1">
                <a:solidFill>
                  <a:schemeClr val="bg1"/>
                </a:solidFill>
              </a:rPr>
              <a:t>hacer</a:t>
            </a:r>
            <a:r>
              <a:rPr lang="en-US" sz="2800" dirty="0">
                <a:solidFill>
                  <a:schemeClr val="bg1"/>
                </a:solidFill>
              </a:rPr>
              <a:t> </a:t>
            </a:r>
            <a:r>
              <a:rPr lang="en-US" sz="2800" dirty="0" err="1">
                <a:solidFill>
                  <a:schemeClr val="bg1"/>
                </a:solidFill>
              </a:rPr>
              <a:t>tu</a:t>
            </a:r>
            <a:r>
              <a:rPr lang="en-US" sz="2800" dirty="0">
                <a:solidFill>
                  <a:schemeClr val="bg1"/>
                </a:solidFill>
              </a:rPr>
              <a:t> </a:t>
            </a:r>
            <a:r>
              <a:rPr lang="en-US" sz="2800" dirty="0" err="1">
                <a:solidFill>
                  <a:schemeClr val="bg1"/>
                </a:solidFill>
              </a:rPr>
              <a:t>rehabilitación</a:t>
            </a:r>
            <a:r>
              <a:rPr lang="en-US" sz="2800" dirty="0">
                <a:solidFill>
                  <a:schemeClr val="bg1"/>
                </a:solidFill>
              </a:rPr>
              <a:t> </a:t>
            </a:r>
            <a:r>
              <a:rPr lang="en-US" sz="2800" dirty="0" err="1">
                <a:solidFill>
                  <a:schemeClr val="bg1"/>
                </a:solidFill>
              </a:rPr>
              <a:t>en</a:t>
            </a:r>
            <a:r>
              <a:rPr lang="en-US" sz="2800" dirty="0">
                <a:solidFill>
                  <a:schemeClr val="bg1"/>
                </a:solidFill>
              </a:rPr>
              <a:t> casa y saber, </a:t>
            </a:r>
            <a:r>
              <a:rPr lang="en-US" sz="2800" dirty="0" err="1">
                <a:solidFill>
                  <a:schemeClr val="bg1"/>
                </a:solidFill>
              </a:rPr>
              <a:t>en</a:t>
            </a:r>
            <a:r>
              <a:rPr lang="en-US" sz="2800" dirty="0">
                <a:solidFill>
                  <a:schemeClr val="bg1"/>
                </a:solidFill>
              </a:rPr>
              <a:t> </a:t>
            </a:r>
            <a:r>
              <a:rPr lang="en-US" sz="2800" dirty="0" err="1">
                <a:solidFill>
                  <a:schemeClr val="bg1"/>
                </a:solidFill>
              </a:rPr>
              <a:t>tiempo</a:t>
            </a:r>
            <a:r>
              <a:rPr lang="en-US" sz="2800" dirty="0">
                <a:solidFill>
                  <a:schemeClr val="bg1"/>
                </a:solidFill>
              </a:rPr>
              <a:t> real, </a:t>
            </a:r>
            <a:r>
              <a:rPr lang="en-US" sz="2800" dirty="0" err="1">
                <a:solidFill>
                  <a:schemeClr val="bg1"/>
                </a:solidFill>
              </a:rPr>
              <a:t>si</a:t>
            </a:r>
            <a:r>
              <a:rPr lang="en-US" sz="2800" dirty="0">
                <a:solidFill>
                  <a:schemeClr val="bg1"/>
                </a:solidFill>
              </a:rPr>
              <a:t> </a:t>
            </a:r>
            <a:r>
              <a:rPr lang="en-US" sz="2800" dirty="0" err="1">
                <a:solidFill>
                  <a:schemeClr val="bg1"/>
                </a:solidFill>
              </a:rPr>
              <a:t>estás</a:t>
            </a:r>
            <a:r>
              <a:rPr lang="en-US" sz="2800" dirty="0">
                <a:solidFill>
                  <a:schemeClr val="bg1"/>
                </a:solidFill>
              </a:rPr>
              <a:t> </a:t>
            </a:r>
            <a:r>
              <a:rPr lang="en-US" sz="2800" dirty="0" err="1">
                <a:solidFill>
                  <a:schemeClr val="bg1"/>
                </a:solidFill>
              </a:rPr>
              <a:t>haciendo</a:t>
            </a:r>
            <a:r>
              <a:rPr lang="en-US" sz="2800" dirty="0">
                <a:solidFill>
                  <a:schemeClr val="bg1"/>
                </a:solidFill>
              </a:rPr>
              <a:t> </a:t>
            </a:r>
            <a:r>
              <a:rPr lang="en-US" sz="2800" dirty="0" err="1">
                <a:solidFill>
                  <a:schemeClr val="bg1"/>
                </a:solidFill>
              </a:rPr>
              <a:t>cada</a:t>
            </a:r>
            <a:r>
              <a:rPr lang="en-US" sz="2800" dirty="0">
                <a:solidFill>
                  <a:schemeClr val="bg1"/>
                </a:solidFill>
              </a:rPr>
              <a:t> </a:t>
            </a:r>
            <a:r>
              <a:rPr lang="en-US" sz="2800" dirty="0" err="1">
                <a:solidFill>
                  <a:schemeClr val="bg1"/>
                </a:solidFill>
              </a:rPr>
              <a:t>movimiento</a:t>
            </a:r>
            <a:r>
              <a:rPr lang="en-US" sz="2800" dirty="0">
                <a:solidFill>
                  <a:schemeClr val="bg1"/>
                </a:solidFill>
              </a:rPr>
              <a:t> </a:t>
            </a:r>
            <a:r>
              <a:rPr lang="en-US" sz="2800" dirty="0" err="1">
                <a:solidFill>
                  <a:schemeClr val="bg1"/>
                </a:solidFill>
              </a:rPr>
              <a:t>correctamente</a:t>
            </a:r>
            <a:r>
              <a:rPr lang="en-US" sz="2800" dirty="0">
                <a:solidFill>
                  <a:schemeClr val="bg1"/>
                </a:solidFill>
              </a:rPr>
              <a:t>?”…</a:t>
            </a:r>
          </a:p>
        </p:txBody>
      </p:sp>
      <p:sp>
        <p:nvSpPr>
          <p:cNvPr id="4" name="c1-1"/>
          <p:cNvSpPr txBox="1"/>
          <p:nvPr/>
        </p:nvSpPr>
        <p:spPr>
          <a:xfrm>
            <a:off x="407096" y="1874520"/>
            <a:ext cx="8229600" cy="457200"/>
          </a:xfrm>
          <a:prstGeom prst="rect">
            <a:avLst/>
          </a:prstGeom>
          <a:noFill/>
          <a:ln/>
        </p:spPr>
        <p:txBody>
          <a:bodyPr wrap="square" lIns="0" tIns="0" rIns="0" bIns="0" rtlCol="0" anchor="ctr"/>
          <a:lstStyle/>
          <a:p>
            <a:pPr marL="0" indent="0">
              <a:buNone/>
            </a:pPr>
            <a:r>
              <a:rPr lang="en-US" sz="2800" b="1" dirty="0">
                <a:solidFill>
                  <a:srgbClr val="5FD3B5"/>
                </a:solidFill>
                <a:latin typeface="Arial" pitchFamily="34" charset="0"/>
                <a:ea typeface="Arial" pitchFamily="34" charset="-122"/>
                <a:cs typeface="Arial" pitchFamily="34" charset="-120"/>
              </a:rPr>
              <a:t>…sin un especialista al lado?</a:t>
            </a:r>
            <a:endParaRPr lang="en-US" sz="2800" dirty="0"/>
          </a:p>
        </p:txBody>
      </p:sp>
      <p:sp>
        <p:nvSpPr>
          <p:cNvPr id="5" name="c2-1"/>
          <p:cNvSpPr/>
          <p:nvPr/>
        </p:nvSpPr>
        <p:spPr>
          <a:xfrm>
            <a:off x="457200" y="2697480"/>
            <a:ext cx="2348630" cy="1479950"/>
          </a:xfrm>
          <a:prstGeom prst="roundRect">
            <a:avLst>
              <a:gd name="adj" fmla="val 6154"/>
            </a:avLst>
          </a:prstGeom>
          <a:solidFill>
            <a:srgbClr val="FF6B5B"/>
          </a:solidFill>
          <a:ln/>
        </p:spPr>
        <p:txBody>
          <a:bodyPr wrap="square" lIns="165100" tIns="165100" rIns="165100" bIns="165100" rtlCol="0" anchor="t"/>
          <a:lstStyle/>
          <a:p>
            <a:pPr marL="0" indent="0">
              <a:spcAft>
                <a:spcPts val="400"/>
              </a:spcAft>
              <a:buNone/>
            </a:pPr>
            <a:r>
              <a:rPr lang="en-US" sz="3200" b="1" dirty="0">
                <a:solidFill>
                  <a:srgbClr val="FFFFFF"/>
                </a:solidFill>
                <a:latin typeface="Arial" pitchFamily="34" charset="0"/>
                <a:ea typeface="Arial" pitchFamily="34" charset="-122"/>
                <a:cs typeface="Arial" pitchFamily="34" charset="-120"/>
              </a:rPr>
              <a:t>50–65%</a:t>
            </a:r>
            <a:endParaRPr lang="en-US" sz="3200" dirty="0"/>
          </a:p>
          <a:p>
            <a:pPr marL="0" indent="0">
              <a:spcAft>
                <a:spcPts val="400"/>
              </a:spcAft>
              <a:buNone/>
            </a:pPr>
            <a:r>
              <a:rPr lang="en-US" sz="1200" dirty="0">
                <a:solidFill>
                  <a:srgbClr val="FFFFFF"/>
                </a:solidFill>
                <a:latin typeface="Calibri" pitchFamily="34" charset="0"/>
                <a:ea typeface="Calibri" pitchFamily="34" charset="-122"/>
                <a:cs typeface="Calibri" pitchFamily="34" charset="-120"/>
              </a:rPr>
              <a:t>de pacientes no cumple su programa de ejercicios en casa</a:t>
            </a:r>
            <a:endParaRPr lang="en-US" sz="3200" dirty="0"/>
          </a:p>
          <a:p>
            <a:pPr marL="0" indent="0">
              <a:spcAft>
                <a:spcPts val="400"/>
              </a:spcAft>
              <a:buNone/>
            </a:pPr>
            <a:r>
              <a:rPr lang="en-US" sz="900" i="1" dirty="0">
                <a:solidFill>
                  <a:srgbClr val="FFE1DD"/>
                </a:solidFill>
                <a:latin typeface="Calibri" pitchFamily="34" charset="0"/>
                <a:ea typeface="Calibri" pitchFamily="34" charset="-122"/>
                <a:cs typeface="Calibri" pitchFamily="34" charset="-120"/>
              </a:rPr>
              <a:t>Physiopedia</a:t>
            </a:r>
            <a:endParaRPr lang="en-US" sz="3200" dirty="0"/>
          </a:p>
        </p:txBody>
      </p:sp>
      <p:sp>
        <p:nvSpPr>
          <p:cNvPr id="6" name="c3-1"/>
          <p:cNvSpPr/>
          <p:nvPr/>
        </p:nvSpPr>
        <p:spPr>
          <a:xfrm>
            <a:off x="2862198" y="2697480"/>
            <a:ext cx="2348630" cy="1479950"/>
          </a:xfrm>
          <a:prstGeom prst="roundRect">
            <a:avLst>
              <a:gd name="adj" fmla="val 6154"/>
            </a:avLst>
          </a:prstGeom>
          <a:solidFill>
            <a:srgbClr val="133E47"/>
          </a:solidFill>
          <a:ln/>
        </p:spPr>
        <p:txBody>
          <a:bodyPr wrap="square" lIns="165100" tIns="165100" rIns="165100" bIns="165100" rtlCol="0" anchor="t"/>
          <a:lstStyle/>
          <a:p>
            <a:pPr marL="0" indent="0">
              <a:spcAft>
                <a:spcPts val="400"/>
              </a:spcAft>
              <a:buNone/>
            </a:pPr>
            <a:r>
              <a:rPr lang="en-US" sz="3200" b="1" dirty="0">
                <a:solidFill>
                  <a:srgbClr val="5FD3B5"/>
                </a:solidFill>
                <a:latin typeface="Arial" pitchFamily="34" charset="0"/>
                <a:ea typeface="Arial" pitchFamily="34" charset="-122"/>
                <a:cs typeface="Arial" pitchFamily="34" charset="-120"/>
              </a:rPr>
              <a:t>2.400 M</a:t>
            </a:r>
            <a:endParaRPr lang="en-US" sz="3200" dirty="0"/>
          </a:p>
          <a:p>
            <a:pPr marL="0" indent="0">
              <a:spcAft>
                <a:spcPts val="400"/>
              </a:spcAft>
              <a:buNone/>
            </a:pPr>
            <a:r>
              <a:rPr lang="en-US" sz="1200" dirty="0">
                <a:solidFill>
                  <a:srgbClr val="CFE3E0"/>
                </a:solidFill>
                <a:latin typeface="Calibri" pitchFamily="34" charset="0"/>
                <a:ea typeface="Calibri" pitchFamily="34" charset="-122"/>
                <a:cs typeface="Calibri" pitchFamily="34" charset="-120"/>
              </a:rPr>
              <a:t>personas viven con una </a:t>
            </a:r>
            <a:r>
              <a:rPr lang="en-US" sz="1200" dirty="0" err="1">
                <a:solidFill>
                  <a:srgbClr val="CFE3E0"/>
                </a:solidFill>
                <a:latin typeface="Calibri" pitchFamily="34" charset="0"/>
                <a:ea typeface="Calibri" pitchFamily="34" charset="-122"/>
                <a:cs typeface="Calibri" pitchFamily="34" charset="-120"/>
              </a:rPr>
              <a:t>condición</a:t>
            </a:r>
            <a:r>
              <a:rPr lang="en-US" sz="1200" dirty="0">
                <a:solidFill>
                  <a:srgbClr val="CFE3E0"/>
                </a:solidFill>
                <a:latin typeface="Calibri" pitchFamily="34" charset="0"/>
                <a:ea typeface="Calibri" pitchFamily="34" charset="-122"/>
                <a:cs typeface="Calibri" pitchFamily="34" charset="-120"/>
              </a:rPr>
              <a:t> </a:t>
            </a:r>
            <a:r>
              <a:rPr lang="en-US" sz="1200" dirty="0" err="1">
                <a:solidFill>
                  <a:srgbClr val="CFE3E0"/>
                </a:solidFill>
                <a:latin typeface="Calibri" pitchFamily="34" charset="0"/>
                <a:ea typeface="Calibri" pitchFamily="34" charset="-122"/>
                <a:cs typeface="Calibri" pitchFamily="34" charset="-120"/>
              </a:rPr>
              <a:t>mejorable</a:t>
            </a:r>
            <a:r>
              <a:rPr lang="en-US" sz="1200" dirty="0">
                <a:solidFill>
                  <a:srgbClr val="CFE3E0"/>
                </a:solidFill>
                <a:latin typeface="Calibri" pitchFamily="34" charset="0"/>
                <a:ea typeface="Calibri" pitchFamily="34" charset="-122"/>
                <a:cs typeface="Calibri" pitchFamily="34" charset="-120"/>
              </a:rPr>
              <a:t> con </a:t>
            </a:r>
            <a:r>
              <a:rPr lang="en-US" sz="1200" dirty="0" err="1">
                <a:solidFill>
                  <a:srgbClr val="CFE3E0"/>
                </a:solidFill>
                <a:latin typeface="Calibri" pitchFamily="34" charset="0"/>
                <a:ea typeface="Calibri" pitchFamily="34" charset="-122"/>
                <a:cs typeface="Calibri" pitchFamily="34" charset="-120"/>
              </a:rPr>
              <a:t>rehabilitació</a:t>
            </a:r>
            <a:r>
              <a:rPr lang="en-US" sz="1200" dirty="0">
                <a:solidFill>
                  <a:srgbClr val="CFE3E0"/>
                </a:solidFill>
                <a:latin typeface="Calibri" pitchFamily="34" charset="0"/>
                <a:ea typeface="Calibri" pitchFamily="34" charset="-122"/>
                <a:cs typeface="Calibri" pitchFamily="34" charset="-120"/>
              </a:rPr>
              <a:t> </a:t>
            </a:r>
            <a:r>
              <a:rPr lang="en-US" sz="900" i="1" dirty="0">
                <a:solidFill>
                  <a:srgbClr val="8FB3AF"/>
                </a:solidFill>
                <a:latin typeface="Calibri" pitchFamily="34" charset="0"/>
                <a:ea typeface="Calibri" pitchFamily="34" charset="-122"/>
                <a:cs typeface="Calibri" pitchFamily="34" charset="-120"/>
              </a:rPr>
              <a:t>OMS</a:t>
            </a:r>
            <a:endParaRPr lang="en-US" sz="3200" dirty="0"/>
          </a:p>
        </p:txBody>
      </p:sp>
      <p:sp>
        <p:nvSpPr>
          <p:cNvPr id="7" name="c4-1"/>
          <p:cNvSpPr/>
          <p:nvPr/>
        </p:nvSpPr>
        <p:spPr>
          <a:xfrm>
            <a:off x="5426524" y="2338108"/>
            <a:ext cx="3335056" cy="1143000"/>
          </a:xfrm>
          <a:prstGeom prst="roundRect">
            <a:avLst>
              <a:gd name="adj" fmla="val 6154"/>
            </a:avLst>
          </a:prstGeom>
          <a:solidFill>
            <a:srgbClr val="133E47"/>
          </a:solidFill>
          <a:ln/>
        </p:spPr>
        <p:txBody>
          <a:bodyPr wrap="square" lIns="165100" tIns="165100" rIns="165100" bIns="165100" rtlCol="0" anchor="t"/>
          <a:lstStyle/>
          <a:p>
            <a:pPr marL="0" indent="0">
              <a:spcAft>
                <a:spcPts val="400"/>
              </a:spcAft>
              <a:buNone/>
            </a:pPr>
            <a:r>
              <a:rPr lang="en-US" sz="3200" b="1" dirty="0">
                <a:solidFill>
                  <a:srgbClr val="5FD3B5"/>
                </a:solidFill>
                <a:latin typeface="Arial" pitchFamily="34" charset="0"/>
                <a:ea typeface="Arial" pitchFamily="34" charset="-122"/>
                <a:cs typeface="Arial" pitchFamily="34" charset="-120"/>
              </a:rPr>
              <a:t>&lt; 10 </a:t>
            </a:r>
          </a:p>
          <a:p>
            <a:pPr marL="0" indent="0">
              <a:spcAft>
                <a:spcPts val="400"/>
              </a:spcAft>
              <a:buNone/>
            </a:pPr>
            <a:r>
              <a:rPr lang="en-US" sz="1200" dirty="0" err="1">
                <a:solidFill>
                  <a:srgbClr val="CFE3E0"/>
                </a:solidFill>
                <a:latin typeface="Calibri" pitchFamily="34" charset="0"/>
                <a:ea typeface="Calibri" pitchFamily="34" charset="-122"/>
                <a:cs typeface="Calibri" pitchFamily="34" charset="-120"/>
              </a:rPr>
              <a:t>rehabilitadores</a:t>
            </a:r>
            <a:r>
              <a:rPr lang="en-US" sz="1200" dirty="0">
                <a:solidFill>
                  <a:srgbClr val="CFE3E0"/>
                </a:solidFill>
                <a:latin typeface="Calibri" pitchFamily="34" charset="0"/>
                <a:ea typeface="Calibri" pitchFamily="34" charset="-122"/>
                <a:cs typeface="Calibri" pitchFamily="34" charset="-120"/>
              </a:rPr>
              <a:t> por millón de habitantes en muchos países de ingresos bajos y </a:t>
            </a:r>
            <a:r>
              <a:rPr lang="en-US" sz="1200" dirty="0" err="1">
                <a:solidFill>
                  <a:srgbClr val="CFE3E0"/>
                </a:solidFill>
                <a:latin typeface="Calibri" pitchFamily="34" charset="0"/>
                <a:ea typeface="Calibri" pitchFamily="34" charset="-122"/>
                <a:cs typeface="Calibri" pitchFamily="34" charset="-120"/>
              </a:rPr>
              <a:t>medios</a:t>
            </a:r>
            <a:r>
              <a:rPr lang="en-US" sz="1200" dirty="0">
                <a:solidFill>
                  <a:srgbClr val="CFE3E0"/>
                </a:solidFill>
                <a:latin typeface="Calibri" pitchFamily="34" charset="0"/>
                <a:ea typeface="Calibri" pitchFamily="34" charset="-122"/>
                <a:cs typeface="Calibri" pitchFamily="34" charset="-120"/>
              </a:rPr>
              <a:t> </a:t>
            </a:r>
            <a:r>
              <a:rPr lang="en-US" sz="900" i="1" dirty="0">
                <a:solidFill>
                  <a:srgbClr val="8FB3AF"/>
                </a:solidFill>
                <a:latin typeface="Calibri" pitchFamily="34" charset="0"/>
                <a:ea typeface="Calibri" pitchFamily="34" charset="-122"/>
                <a:cs typeface="Calibri" pitchFamily="34" charset="-120"/>
              </a:rPr>
              <a:t>OMS</a:t>
            </a:r>
            <a:endParaRPr lang="en-US" sz="3200" dirty="0"/>
          </a:p>
        </p:txBody>
      </p:sp>
      <p:sp>
        <p:nvSpPr>
          <p:cNvPr id="8" name="Text 6"/>
          <p:cNvSpPr txBox="1"/>
          <p:nvPr/>
        </p:nvSpPr>
        <p:spPr>
          <a:xfrm>
            <a:off x="457200" y="4818888"/>
            <a:ext cx="914400" cy="219456"/>
          </a:xfrm>
          <a:prstGeom prst="rect">
            <a:avLst/>
          </a:prstGeom>
          <a:noFill/>
          <a:ln/>
        </p:spPr>
        <p:txBody>
          <a:bodyPr wrap="square" lIns="0" tIns="0" rIns="0" bIns="0" rtlCol="0" anchor="ctr"/>
          <a:lstStyle/>
          <a:p>
            <a:pPr marL="0" indent="0">
              <a:buNone/>
            </a:pPr>
            <a:r>
              <a:rPr lang="en-US" sz="900" dirty="0">
                <a:solidFill>
                  <a:srgbClr val="8FB3AF"/>
                </a:solidFill>
                <a:latin typeface="Calibri" pitchFamily="34" charset="0"/>
                <a:ea typeface="Calibri" pitchFamily="34" charset="-122"/>
                <a:cs typeface="Calibri" pitchFamily="34" charset="-120"/>
              </a:rPr>
              <a:t>1 / 9</a:t>
            </a:r>
            <a:endParaRPr lang="en-US" sz="900" dirty="0"/>
          </a:p>
        </p:txBody>
      </p:sp>
      <p:sp>
        <p:nvSpPr>
          <p:cNvPr id="9" name="nav1">
            <a:hlinkClick r:id="rId3" action="ppaction://hlinksldjump"/>
          </p:cNvPr>
          <p:cNvSpPr/>
          <p:nvPr/>
        </p:nvSpPr>
        <p:spPr>
          <a:xfrm>
            <a:off x="4242816" y="4818888"/>
            <a:ext cx="731520" cy="219456"/>
          </a:xfrm>
          <a:prstGeom prst="roundRect">
            <a:avLst>
              <a:gd name="adj" fmla="val 50000"/>
            </a:avLst>
          </a:prstGeom>
          <a:solidFill>
            <a:srgbClr val="5FD3B5"/>
          </a:solidFill>
          <a:ln/>
        </p:spPr>
        <p:txBody>
          <a:bodyPr wrap="square" lIns="0" tIns="0" rIns="0" bIns="0" rtlCol="0" anchor="ctr"/>
          <a:lstStyle/>
          <a:p>
            <a:pPr marL="0" indent="0" algn="ctr">
              <a:buNone/>
            </a:pPr>
            <a:r>
              <a:rPr lang="en-US" sz="900" b="1" dirty="0">
                <a:solidFill>
                  <a:srgbClr val="0B2B33"/>
                </a:solidFill>
                <a:latin typeface="Calibri" pitchFamily="34" charset="0"/>
                <a:ea typeface="Calibri" pitchFamily="34" charset="-122"/>
                <a:cs typeface="Calibri" pitchFamily="34" charset="-120"/>
              </a:rPr>
              <a:t>Problema</a:t>
            </a:r>
            <a:endParaRPr lang="en-US" sz="900" dirty="0"/>
          </a:p>
        </p:txBody>
      </p:sp>
      <p:sp>
        <p:nvSpPr>
          <p:cNvPr id="10" name="nav3">
            <a:hlinkClick r:id="rId4" action="ppaction://hlinksldjump"/>
          </p:cNvPr>
          <p:cNvSpPr/>
          <p:nvPr/>
        </p:nvSpPr>
        <p:spPr>
          <a:xfrm>
            <a:off x="5029200" y="4818888"/>
            <a:ext cx="713232"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Solución</a:t>
            </a:r>
            <a:endParaRPr lang="en-US" sz="900" dirty="0"/>
          </a:p>
        </p:txBody>
      </p:sp>
      <p:sp>
        <p:nvSpPr>
          <p:cNvPr id="11" name="nav5">
            <a:hlinkClick r:id="rId5" action="ppaction://hlinksldjump"/>
          </p:cNvPr>
          <p:cNvSpPr/>
          <p:nvPr/>
        </p:nvSpPr>
        <p:spPr>
          <a:xfrm>
            <a:off x="5797296" y="4818888"/>
            <a:ext cx="100584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Cómo funciona</a:t>
            </a:r>
            <a:endParaRPr lang="en-US" sz="900" dirty="0"/>
          </a:p>
        </p:txBody>
      </p:sp>
      <p:sp>
        <p:nvSpPr>
          <p:cNvPr id="12" name="nav7">
            <a:hlinkClick r:id="rId6" action="ppaction://hlinksldjump"/>
          </p:cNvPr>
          <p:cNvSpPr/>
          <p:nvPr/>
        </p:nvSpPr>
        <p:spPr>
          <a:xfrm>
            <a:off x="6858000" y="4818888"/>
            <a:ext cx="45720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MVP</a:t>
            </a:r>
            <a:endParaRPr lang="en-US" sz="900" dirty="0"/>
          </a:p>
        </p:txBody>
      </p:sp>
      <p:sp>
        <p:nvSpPr>
          <p:cNvPr id="13" name="nav8">
            <a:hlinkClick r:id="rId7" action="ppaction://hlinksldjump"/>
          </p:cNvPr>
          <p:cNvSpPr/>
          <p:nvPr/>
        </p:nvSpPr>
        <p:spPr>
          <a:xfrm>
            <a:off x="7370064" y="4818888"/>
            <a:ext cx="694944"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Negocio</a:t>
            </a:r>
            <a:endParaRPr lang="en-US" sz="900" dirty="0"/>
          </a:p>
        </p:txBody>
      </p:sp>
      <p:sp>
        <p:nvSpPr>
          <p:cNvPr id="14" name="nav9">
            <a:hlinkClick r:id="rId8" action="ppaction://hlinksldjump"/>
          </p:cNvPr>
          <p:cNvSpPr/>
          <p:nvPr/>
        </p:nvSpPr>
        <p:spPr>
          <a:xfrm>
            <a:off x="8119872" y="4818888"/>
            <a:ext cx="566928"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Cierre</a:t>
            </a:r>
            <a:endParaRPr lang="en-US" sz="900" dirty="0"/>
          </a:p>
        </p:txBody>
      </p:sp>
      <p:grpSp>
        <p:nvGrpSpPr>
          <p:cNvPr id="25" name="Grupo 24">
            <a:extLst>
              <a:ext uri="{FF2B5EF4-FFF2-40B4-BE49-F238E27FC236}">
                <a16:creationId xmlns:a16="http://schemas.microsoft.com/office/drawing/2014/main" id="{4CA386F4-7B26-766B-4115-3BE8AEBE1AEF}"/>
              </a:ext>
            </a:extLst>
          </p:cNvPr>
          <p:cNvGrpSpPr/>
          <p:nvPr/>
        </p:nvGrpSpPr>
        <p:grpSpPr>
          <a:xfrm>
            <a:off x="5419635" y="3534156"/>
            <a:ext cx="3436265" cy="1143000"/>
            <a:chOff x="5394960" y="3675888"/>
            <a:chExt cx="3341944" cy="1143000"/>
          </a:xfrm>
        </p:grpSpPr>
        <p:sp>
          <p:nvSpPr>
            <p:cNvPr id="18" name="Shape 15">
              <a:extLst>
                <a:ext uri="{FF2B5EF4-FFF2-40B4-BE49-F238E27FC236}">
                  <a16:creationId xmlns:a16="http://schemas.microsoft.com/office/drawing/2014/main" id="{DAA737B3-F071-AA19-13A5-00F4A7535F9D}"/>
                </a:ext>
              </a:extLst>
            </p:cNvPr>
            <p:cNvSpPr/>
            <p:nvPr/>
          </p:nvSpPr>
          <p:spPr>
            <a:xfrm>
              <a:off x="5394960" y="3675888"/>
              <a:ext cx="3291840" cy="1143000"/>
            </a:xfrm>
            <a:prstGeom prst="roundRect">
              <a:avLst>
                <a:gd name="adj" fmla="val 9600"/>
              </a:avLst>
            </a:prstGeom>
            <a:solidFill>
              <a:srgbClr val="133E47"/>
            </a:solidFill>
            <a:ln/>
          </p:spPr>
        </p:sp>
        <p:sp>
          <p:nvSpPr>
            <p:cNvPr id="20" name="Text 16">
              <a:extLst>
                <a:ext uri="{FF2B5EF4-FFF2-40B4-BE49-F238E27FC236}">
                  <a16:creationId xmlns:a16="http://schemas.microsoft.com/office/drawing/2014/main" id="{EC16F994-F173-96B8-213F-E889E359AE19}"/>
                </a:ext>
              </a:extLst>
            </p:cNvPr>
            <p:cNvSpPr txBox="1"/>
            <p:nvPr/>
          </p:nvSpPr>
          <p:spPr>
            <a:xfrm>
              <a:off x="5577840" y="3813048"/>
              <a:ext cx="2926080" cy="502920"/>
            </a:xfrm>
            <a:prstGeom prst="rect">
              <a:avLst/>
            </a:prstGeom>
            <a:noFill/>
            <a:ln/>
          </p:spPr>
          <p:txBody>
            <a:bodyPr wrap="square" lIns="0" tIns="0" rIns="0" bIns="0" rtlCol="0" anchor="ctr"/>
            <a:lstStyle/>
            <a:p>
              <a:pPr marL="0" indent="0">
                <a:buNone/>
              </a:pPr>
              <a:r>
                <a:rPr lang="en-US" sz="3000" b="1" dirty="0">
                  <a:solidFill>
                    <a:srgbClr val="5FD3B5"/>
                  </a:solidFill>
                  <a:latin typeface="Arial" pitchFamily="34" charset="0"/>
                  <a:ea typeface="Arial" pitchFamily="34" charset="-122"/>
                  <a:cs typeface="Arial" pitchFamily="34" charset="-120"/>
                </a:rPr>
                <a:t>3,2 M</a:t>
              </a:r>
              <a:endParaRPr lang="en-US" sz="3000" dirty="0"/>
            </a:p>
          </p:txBody>
        </p:sp>
        <p:sp>
          <p:nvSpPr>
            <p:cNvPr id="22" name="Text 17">
              <a:extLst>
                <a:ext uri="{FF2B5EF4-FFF2-40B4-BE49-F238E27FC236}">
                  <a16:creationId xmlns:a16="http://schemas.microsoft.com/office/drawing/2014/main" id="{7F6A1503-B931-B264-FA5F-F905ED26B67D}"/>
                </a:ext>
              </a:extLst>
            </p:cNvPr>
            <p:cNvSpPr txBox="1"/>
            <p:nvPr/>
          </p:nvSpPr>
          <p:spPr>
            <a:xfrm>
              <a:off x="5577840" y="4297680"/>
              <a:ext cx="3159064" cy="384048"/>
            </a:xfrm>
            <a:prstGeom prst="rect">
              <a:avLst/>
            </a:prstGeom>
            <a:noFill/>
            <a:ln/>
          </p:spPr>
          <p:txBody>
            <a:bodyPr wrap="square" lIns="0" tIns="0" rIns="0" bIns="0" rtlCol="0" anchor="ctr"/>
            <a:lstStyle/>
            <a:p>
              <a:pPr marL="0" indent="0">
                <a:buNone/>
              </a:pPr>
              <a:r>
                <a:rPr lang="en-US" sz="1100" dirty="0">
                  <a:solidFill>
                    <a:srgbClr val="CFE3E0"/>
                  </a:solidFill>
                  <a:latin typeface="Calibri" pitchFamily="34" charset="0"/>
                  <a:ea typeface="Calibri" pitchFamily="34" charset="-122"/>
                  <a:cs typeface="Calibri" pitchFamily="34" charset="-120"/>
                </a:rPr>
                <a:t>peruanos viven con una limitación permanente (10,3%)</a:t>
              </a:r>
              <a:endParaRPr lang="en-US" sz="1100" dirty="0"/>
            </a:p>
          </p:txBody>
        </p:sp>
        <p:sp>
          <p:nvSpPr>
            <p:cNvPr id="24" name="Text 18">
              <a:extLst>
                <a:ext uri="{FF2B5EF4-FFF2-40B4-BE49-F238E27FC236}">
                  <a16:creationId xmlns:a16="http://schemas.microsoft.com/office/drawing/2014/main" id="{8F122122-D89A-5115-388D-DEC9856F4069}"/>
                </a:ext>
              </a:extLst>
            </p:cNvPr>
            <p:cNvSpPr txBox="1"/>
            <p:nvPr/>
          </p:nvSpPr>
          <p:spPr>
            <a:xfrm>
              <a:off x="7132320" y="3877056"/>
              <a:ext cx="1417320" cy="228600"/>
            </a:xfrm>
            <a:prstGeom prst="rect">
              <a:avLst/>
            </a:prstGeom>
            <a:noFill/>
            <a:ln/>
          </p:spPr>
          <p:txBody>
            <a:bodyPr wrap="square" lIns="0" tIns="0" rIns="0" bIns="0" rtlCol="0" anchor="ctr"/>
            <a:lstStyle/>
            <a:p>
              <a:pPr marL="0" indent="0" algn="r">
                <a:buNone/>
              </a:pPr>
              <a:r>
                <a:rPr lang="en-US" sz="900" i="1" dirty="0">
                  <a:solidFill>
                    <a:srgbClr val="8FB3AF"/>
                  </a:solidFill>
                  <a:latin typeface="Calibri" pitchFamily="34" charset="0"/>
                  <a:ea typeface="Calibri" pitchFamily="34" charset="-122"/>
                  <a:cs typeface="Calibri" pitchFamily="34" charset="-120"/>
                </a:rPr>
                <a:t>INEI, Censo 2017</a:t>
              </a:r>
              <a:endParaRPr lang="en-US" sz="9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572000" cy="274320"/>
          </a:xfrm>
          <a:prstGeom prst="rect">
            <a:avLst/>
          </a:prstGeom>
          <a:noFill/>
          <a:ln/>
        </p:spPr>
        <p:txBody>
          <a:bodyPr wrap="square" lIns="0" tIns="0" rIns="0" bIns="0" rtlCol="0" anchor="ctr"/>
          <a:lstStyle/>
          <a:p>
            <a:pPr marL="0" indent="0">
              <a:buNone/>
            </a:pPr>
            <a:r>
              <a:rPr lang="en-US" sz="1100" b="1" kern="0" spc="300" dirty="0">
                <a:solidFill>
                  <a:srgbClr val="0E7C7B"/>
                </a:solidFill>
                <a:latin typeface="Calibri" pitchFamily="34" charset="0"/>
                <a:ea typeface="Calibri" pitchFamily="34" charset="-122"/>
                <a:cs typeface="Calibri" pitchFamily="34" charset="-120"/>
              </a:rPr>
              <a:t>EL PROBLEMA</a:t>
            </a:r>
            <a:endParaRPr lang="en-US" sz="11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12343B"/>
                </a:solidFill>
                <a:latin typeface="Arial" pitchFamily="34" charset="0"/>
                <a:ea typeface="Arial" pitchFamily="34" charset="-122"/>
                <a:cs typeface="Arial" pitchFamily="34" charset="-120"/>
              </a:rPr>
              <a:t>En casa, ¿quién verifica el movimiento?</a:t>
            </a:r>
            <a:endParaRPr lang="en-US" sz="2800" dirty="0"/>
          </a:p>
        </p:txBody>
      </p:sp>
      <p:sp>
        <p:nvSpPr>
          <p:cNvPr id="4" name="Text 2"/>
          <p:cNvSpPr txBox="1"/>
          <p:nvPr/>
        </p:nvSpPr>
        <p:spPr>
          <a:xfrm>
            <a:off x="457200" y="1078992"/>
            <a:ext cx="8229600" cy="274320"/>
          </a:xfrm>
          <a:prstGeom prst="rect">
            <a:avLst/>
          </a:prstGeom>
          <a:noFill/>
          <a:ln/>
        </p:spPr>
        <p:txBody>
          <a:bodyPr wrap="square" lIns="0" tIns="0" rIns="0" bIns="0" rtlCol="0" anchor="ctr"/>
          <a:lstStyle/>
          <a:p>
            <a:pPr marL="0" indent="0">
              <a:buNone/>
            </a:pPr>
            <a:r>
              <a:rPr lang="en-US" sz="1400" i="1" dirty="0">
                <a:solidFill>
                  <a:srgbClr val="5B7680"/>
                </a:solidFill>
                <a:latin typeface="Calibri" pitchFamily="34" charset="0"/>
                <a:ea typeface="Calibri" pitchFamily="34" charset="-122"/>
                <a:cs typeface="Calibri" pitchFamily="34" charset="-120"/>
              </a:rPr>
              <a:t>Juego rápido: ¿cuál flexión de codo está bien hecha? Haz clic en A o en B.</a:t>
            </a:r>
            <a:endParaRPr lang="en-US" sz="1400" dirty="0"/>
          </a:p>
        </p:txBody>
      </p:sp>
      <p:sp>
        <p:nvSpPr>
          <p:cNvPr id="5" name="Shape 3"/>
          <p:cNvSpPr/>
          <p:nvPr/>
        </p:nvSpPr>
        <p:spPr>
          <a:xfrm>
            <a:off x="457200" y="1508760"/>
            <a:ext cx="2606040" cy="3154680"/>
          </a:xfrm>
          <a:prstGeom prst="roundRect">
            <a:avLst>
              <a:gd name="adj" fmla="val 5263"/>
            </a:avLst>
          </a:prstGeom>
          <a:solidFill>
            <a:srgbClr val="0B2B33"/>
          </a:solidFill>
          <a:ln/>
        </p:spPr>
      </p:sp>
      <p:pic>
        <p:nvPicPr>
          <p:cNvPr id="6" name="Image 0" descr="preencoded.png"/>
          <p:cNvPicPr>
            <a:picLocks noChangeAspect="1"/>
          </p:cNvPicPr>
          <p:nvPr/>
        </p:nvPicPr>
        <p:blipFill>
          <a:blip r:embed="rId3"/>
          <a:stretch>
            <a:fillRect/>
          </a:stretch>
        </p:blipFill>
        <p:spPr>
          <a:xfrm>
            <a:off x="868680" y="1645920"/>
            <a:ext cx="1783080" cy="2194560"/>
          </a:xfrm>
          <a:prstGeom prst="rect">
            <a:avLst/>
          </a:prstGeom>
        </p:spPr>
      </p:pic>
      <p:pic>
        <p:nvPicPr>
          <p:cNvPr id="7" name="r1-1" descr="preencoded.png"/>
          <p:cNvPicPr>
            <a:picLocks noChangeAspect="1"/>
          </p:cNvPicPr>
          <p:nvPr/>
        </p:nvPicPr>
        <p:blipFill>
          <a:blip r:embed="rId4"/>
          <a:stretch>
            <a:fillRect/>
          </a:stretch>
        </p:blipFill>
        <p:spPr>
          <a:xfrm>
            <a:off x="868680" y="1645920"/>
            <a:ext cx="1783080" cy="2194560"/>
          </a:xfrm>
          <a:prstGeom prst="rect">
            <a:avLst/>
          </a:prstGeom>
        </p:spPr>
      </p:pic>
      <p:sp>
        <p:nvSpPr>
          <p:cNvPr id="8" name="Text 4"/>
          <p:cNvSpPr txBox="1"/>
          <p:nvPr/>
        </p:nvSpPr>
        <p:spPr>
          <a:xfrm>
            <a:off x="594360" y="1600200"/>
            <a:ext cx="4572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A</a:t>
            </a:r>
            <a:endParaRPr lang="en-US" sz="2600" dirty="0"/>
          </a:p>
        </p:txBody>
      </p:sp>
      <p:sp>
        <p:nvSpPr>
          <p:cNvPr id="9" name="r1-2"/>
          <p:cNvSpPr/>
          <p:nvPr/>
        </p:nvSpPr>
        <p:spPr>
          <a:xfrm>
            <a:off x="594360" y="3886200"/>
            <a:ext cx="2331720" cy="658368"/>
          </a:xfrm>
          <a:prstGeom prst="roundRect">
            <a:avLst>
              <a:gd name="adj" fmla="val 16667"/>
            </a:avLst>
          </a:prstGeom>
          <a:solidFill>
            <a:srgbClr val="0E7C7B"/>
          </a:solidFill>
          <a:ln/>
        </p:spPr>
        <p:txBody>
          <a:bodyPr wrap="square" lIns="76200" tIns="76200" rIns="76200" bIns="762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Correcto</a:t>
            </a:r>
            <a:endParaRPr lang="en-US" sz="1300" dirty="0"/>
          </a:p>
          <a:p>
            <a:pPr marL="0" indent="0">
              <a:buNone/>
            </a:pPr>
            <a:r>
              <a:rPr lang="en-US" sz="1000" dirty="0">
                <a:solidFill>
                  <a:srgbClr val="FFFFFF"/>
                </a:solidFill>
                <a:latin typeface="Calibri" pitchFamily="34" charset="0"/>
                <a:ea typeface="Calibri" pitchFamily="34" charset="-122"/>
                <a:cs typeface="Calibri" pitchFamily="34" charset="-120"/>
              </a:rPr>
              <a:t>Codo pegado al cuerpo, hombro y tronco estables</a:t>
            </a:r>
            <a:endParaRPr lang="en-US" sz="1300" dirty="0"/>
          </a:p>
        </p:txBody>
      </p:sp>
      <p:sp>
        <p:nvSpPr>
          <p:cNvPr id="10" name="trig1"/>
          <p:cNvSpPr/>
          <p:nvPr/>
        </p:nvSpPr>
        <p:spPr>
          <a:xfrm>
            <a:off x="457200" y="1508760"/>
            <a:ext cx="2606040" cy="3154680"/>
          </a:xfrm>
          <a:prstGeom prst="rect">
            <a:avLst/>
          </a:prstGeom>
          <a:solidFill>
            <a:srgbClr val="FFFFFF">
              <a:alpha val="0"/>
            </a:srgbClr>
          </a:solidFill>
          <a:ln/>
        </p:spPr>
      </p:sp>
      <p:sp>
        <p:nvSpPr>
          <p:cNvPr id="11" name="Shape 7"/>
          <p:cNvSpPr/>
          <p:nvPr/>
        </p:nvSpPr>
        <p:spPr>
          <a:xfrm>
            <a:off x="3246120" y="1508760"/>
            <a:ext cx="2606040" cy="3154680"/>
          </a:xfrm>
          <a:prstGeom prst="roundRect">
            <a:avLst>
              <a:gd name="adj" fmla="val 5263"/>
            </a:avLst>
          </a:prstGeom>
          <a:solidFill>
            <a:srgbClr val="0B2B33"/>
          </a:solidFill>
          <a:ln/>
        </p:spPr>
      </p:sp>
      <p:pic>
        <p:nvPicPr>
          <p:cNvPr id="12" name="Image 2" descr="preencoded.png"/>
          <p:cNvPicPr>
            <a:picLocks noChangeAspect="1"/>
          </p:cNvPicPr>
          <p:nvPr/>
        </p:nvPicPr>
        <p:blipFill>
          <a:blip r:embed="rId5"/>
          <a:stretch>
            <a:fillRect/>
          </a:stretch>
        </p:blipFill>
        <p:spPr>
          <a:xfrm>
            <a:off x="3657600" y="1645920"/>
            <a:ext cx="1783080" cy="2194560"/>
          </a:xfrm>
          <a:prstGeom prst="rect">
            <a:avLst/>
          </a:prstGeom>
        </p:spPr>
      </p:pic>
      <p:pic>
        <p:nvPicPr>
          <p:cNvPr id="13" name="r2-1" descr="preencoded.png"/>
          <p:cNvPicPr>
            <a:picLocks noChangeAspect="1"/>
          </p:cNvPicPr>
          <p:nvPr/>
        </p:nvPicPr>
        <p:blipFill>
          <a:blip r:embed="rId6"/>
          <a:stretch>
            <a:fillRect/>
          </a:stretch>
        </p:blipFill>
        <p:spPr>
          <a:xfrm>
            <a:off x="3657600" y="1645920"/>
            <a:ext cx="1783080" cy="2194560"/>
          </a:xfrm>
          <a:prstGeom prst="rect">
            <a:avLst/>
          </a:prstGeom>
        </p:spPr>
      </p:pic>
      <p:sp>
        <p:nvSpPr>
          <p:cNvPr id="14" name="Text 8"/>
          <p:cNvSpPr txBox="1"/>
          <p:nvPr/>
        </p:nvSpPr>
        <p:spPr>
          <a:xfrm>
            <a:off x="3383280" y="1600200"/>
            <a:ext cx="4572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B</a:t>
            </a:r>
            <a:endParaRPr lang="en-US" sz="2600" dirty="0"/>
          </a:p>
        </p:txBody>
      </p:sp>
      <p:sp>
        <p:nvSpPr>
          <p:cNvPr id="15" name="r2-2"/>
          <p:cNvSpPr/>
          <p:nvPr/>
        </p:nvSpPr>
        <p:spPr>
          <a:xfrm>
            <a:off x="3383280" y="3886200"/>
            <a:ext cx="2331720" cy="658368"/>
          </a:xfrm>
          <a:prstGeom prst="roundRect">
            <a:avLst>
              <a:gd name="adj" fmla="val 16667"/>
            </a:avLst>
          </a:prstGeom>
          <a:solidFill>
            <a:srgbClr val="FF6B5B"/>
          </a:solidFill>
          <a:ln/>
        </p:spPr>
        <p:txBody>
          <a:bodyPr wrap="square" lIns="76200" tIns="76200" rIns="76200" bIns="762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Compensa</a:t>
            </a:r>
            <a:endParaRPr lang="en-US" sz="1300" dirty="0"/>
          </a:p>
          <a:p>
            <a:pPr marL="0" indent="0">
              <a:buNone/>
            </a:pPr>
            <a:r>
              <a:rPr lang="en-US" sz="1000" dirty="0">
                <a:solidFill>
                  <a:srgbClr val="FFFFFF"/>
                </a:solidFill>
                <a:latin typeface="Calibri" pitchFamily="34" charset="0"/>
                <a:ea typeface="Calibri" pitchFamily="34" charset="-122"/>
                <a:cs typeface="Calibri" pitchFamily="34" charset="-120"/>
              </a:rPr>
              <a:t>Sube el hombro, abre el codo e inclina el tronco</a:t>
            </a:r>
            <a:endParaRPr lang="en-US" sz="1300" dirty="0"/>
          </a:p>
        </p:txBody>
      </p:sp>
      <p:sp>
        <p:nvSpPr>
          <p:cNvPr id="16" name="trig2"/>
          <p:cNvSpPr/>
          <p:nvPr/>
        </p:nvSpPr>
        <p:spPr>
          <a:xfrm>
            <a:off x="3246120" y="1508760"/>
            <a:ext cx="2606040" cy="3154680"/>
          </a:xfrm>
          <a:prstGeom prst="rect">
            <a:avLst/>
          </a:prstGeom>
          <a:solidFill>
            <a:srgbClr val="FFFFFF">
              <a:alpha val="0"/>
            </a:srgbClr>
          </a:solidFill>
          <a:ln/>
        </p:spPr>
      </p:sp>
      <p:sp>
        <p:nvSpPr>
          <p:cNvPr id="17" name="Text 11"/>
          <p:cNvSpPr/>
          <p:nvPr/>
        </p:nvSpPr>
        <p:spPr>
          <a:xfrm>
            <a:off x="6126480" y="1508760"/>
            <a:ext cx="2560320" cy="1920240"/>
          </a:xfrm>
          <a:prstGeom prst="roundRect">
            <a:avLst>
              <a:gd name="adj" fmla="val 5714"/>
            </a:avLst>
          </a:prstGeom>
          <a:solidFill>
            <a:srgbClr val="E8F5F2"/>
          </a:solidFill>
          <a:ln/>
        </p:spPr>
        <p:txBody>
          <a:bodyPr wrap="square" lIns="165100" tIns="165100" rIns="165100" bIns="165100" rtlCol="0" anchor="t"/>
          <a:lstStyle/>
          <a:p>
            <a:pPr marL="0" indent="0">
              <a:spcAft>
                <a:spcPts val="500"/>
              </a:spcAft>
              <a:buNone/>
            </a:pPr>
            <a:r>
              <a:rPr lang="en-US" sz="1400" b="1" dirty="0">
                <a:solidFill>
                  <a:srgbClr val="12343B"/>
                </a:solidFill>
                <a:latin typeface="Arial" pitchFamily="34" charset="0"/>
                <a:ea typeface="Arial" pitchFamily="34" charset="-122"/>
                <a:cs typeface="Arial" pitchFamily="34" charset="-120"/>
              </a:rPr>
              <a:t>Lo que el ojo no ve</a:t>
            </a:r>
            <a:endParaRPr lang="en-US" sz="1200" dirty="0"/>
          </a:p>
          <a:p>
            <a:pPr marL="342900" indent="-342900">
              <a:spcAft>
                <a:spcPts val="500"/>
              </a:spcAft>
              <a:buSzPct val="100000"/>
              <a:buChar char="•"/>
            </a:pPr>
            <a:r>
              <a:rPr lang="en-US" sz="1200" dirty="0">
                <a:solidFill>
                  <a:srgbClr val="12343B"/>
                </a:solidFill>
                <a:latin typeface="Calibri" pitchFamily="34" charset="0"/>
                <a:ea typeface="Calibri" pitchFamily="34" charset="-122"/>
                <a:cs typeface="Calibri" pitchFamily="34" charset="-120"/>
              </a:rPr>
              <a:t>Compensaciones pequeñas con hombro o tronco</a:t>
            </a:r>
            <a:endParaRPr lang="en-US" sz="1200" dirty="0"/>
          </a:p>
          <a:p>
            <a:pPr marL="342900" indent="-342900">
              <a:spcAft>
                <a:spcPts val="500"/>
              </a:spcAft>
              <a:buSzPct val="100000"/>
              <a:buChar char="•"/>
            </a:pPr>
            <a:r>
              <a:rPr lang="en-US" sz="1200" dirty="0">
                <a:solidFill>
                  <a:srgbClr val="12343B"/>
                </a:solidFill>
                <a:latin typeface="Calibri" pitchFamily="34" charset="0"/>
                <a:ea typeface="Calibri" pitchFamily="34" charset="-122"/>
                <a:cs typeface="Calibri" pitchFamily="34" charset="-120"/>
              </a:rPr>
              <a:t>Rango de movimiento incompleto</a:t>
            </a:r>
            <a:endParaRPr lang="en-US" sz="1200" dirty="0"/>
          </a:p>
          <a:p>
            <a:pPr marL="342900" indent="-342900">
              <a:spcAft>
                <a:spcPts val="500"/>
              </a:spcAft>
              <a:buSzPct val="100000"/>
              <a:buChar char="•"/>
            </a:pPr>
            <a:r>
              <a:rPr lang="en-US" sz="1200" dirty="0">
                <a:solidFill>
                  <a:srgbClr val="12343B"/>
                </a:solidFill>
                <a:latin typeface="Calibri" pitchFamily="34" charset="0"/>
                <a:ea typeface="Calibri" pitchFamily="34" charset="-122"/>
                <a:cs typeface="Calibri" pitchFamily="34" charset="-120"/>
              </a:rPr>
              <a:t>Repeticiones cada vez más rápidas</a:t>
            </a:r>
            <a:endParaRPr lang="en-US" sz="1200" dirty="0"/>
          </a:p>
        </p:txBody>
      </p:sp>
      <p:sp>
        <p:nvSpPr>
          <p:cNvPr id="18" name="c1-1"/>
          <p:cNvSpPr/>
          <p:nvPr/>
        </p:nvSpPr>
        <p:spPr>
          <a:xfrm>
            <a:off x="6126480" y="3566160"/>
            <a:ext cx="2560320" cy="1097280"/>
          </a:xfrm>
          <a:prstGeom prst="roundRect">
            <a:avLst>
              <a:gd name="adj" fmla="val 10000"/>
            </a:avLst>
          </a:prstGeom>
          <a:solidFill>
            <a:srgbClr val="FF6B5B"/>
          </a:solidFill>
          <a:ln/>
        </p:spPr>
        <p:txBody>
          <a:bodyPr wrap="square" lIns="165100" tIns="165100" rIns="165100" bIns="1651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En casa nadie corrige</a:t>
            </a:r>
            <a:endParaRPr lang="en-US" sz="1400" dirty="0"/>
          </a:p>
          <a:p>
            <a:pPr marL="0" indent="0">
              <a:buNone/>
            </a:pPr>
            <a:r>
              <a:rPr lang="en-US" sz="1200" dirty="0">
                <a:solidFill>
                  <a:srgbClr val="FFFFFF"/>
                </a:solidFill>
                <a:latin typeface="Calibri" pitchFamily="34" charset="0"/>
                <a:ea typeface="Calibri" pitchFamily="34" charset="-122"/>
                <a:cs typeface="Calibri" pitchFamily="34" charset="-120"/>
              </a:rPr>
              <a:t>→ el paciente se desmotiva y abandona</a:t>
            </a:r>
            <a:endParaRPr lang="en-US" sz="1400" dirty="0"/>
          </a:p>
        </p:txBody>
      </p:sp>
      <p:sp>
        <p:nvSpPr>
          <p:cNvPr id="19" name="Text 13"/>
          <p:cNvSpPr txBox="1"/>
          <p:nvPr/>
        </p:nvSpPr>
        <p:spPr>
          <a:xfrm>
            <a:off x="457200" y="4818888"/>
            <a:ext cx="914400" cy="219456"/>
          </a:xfrm>
          <a:prstGeom prst="rect">
            <a:avLst/>
          </a:prstGeom>
          <a:noFill/>
          <a:ln/>
        </p:spPr>
        <p:txBody>
          <a:bodyPr wrap="square" lIns="0" tIns="0" rIns="0" bIns="0" rtlCol="0" anchor="ctr"/>
          <a:lstStyle/>
          <a:p>
            <a:pPr marL="0" indent="0">
              <a:buNone/>
            </a:pPr>
            <a:r>
              <a:rPr lang="en-US" sz="900" dirty="0">
                <a:solidFill>
                  <a:srgbClr val="5B7680"/>
                </a:solidFill>
                <a:latin typeface="Calibri" pitchFamily="34" charset="0"/>
                <a:ea typeface="Calibri" pitchFamily="34" charset="-122"/>
                <a:cs typeface="Calibri" pitchFamily="34" charset="-120"/>
              </a:rPr>
              <a:t>2 / 9</a:t>
            </a:r>
            <a:endParaRPr lang="en-US" sz="900" dirty="0"/>
          </a:p>
        </p:txBody>
      </p:sp>
      <p:sp>
        <p:nvSpPr>
          <p:cNvPr id="20" name="nav1">
            <a:hlinkClick r:id="rId7" action="ppaction://hlinksldjump"/>
          </p:cNvPr>
          <p:cNvSpPr/>
          <p:nvPr/>
        </p:nvSpPr>
        <p:spPr>
          <a:xfrm>
            <a:off x="4242816" y="4818888"/>
            <a:ext cx="731520" cy="219456"/>
          </a:xfrm>
          <a:prstGeom prst="roundRect">
            <a:avLst>
              <a:gd name="adj" fmla="val 50000"/>
            </a:avLst>
          </a:prstGeom>
          <a:solidFill>
            <a:srgbClr val="5FD3B5"/>
          </a:solidFill>
          <a:ln/>
        </p:spPr>
        <p:txBody>
          <a:bodyPr wrap="square" lIns="0" tIns="0" rIns="0" bIns="0" rtlCol="0" anchor="ctr"/>
          <a:lstStyle/>
          <a:p>
            <a:pPr marL="0" indent="0" algn="ctr">
              <a:buNone/>
            </a:pPr>
            <a:r>
              <a:rPr lang="en-US" sz="900" b="1" dirty="0">
                <a:solidFill>
                  <a:srgbClr val="0B2B33"/>
                </a:solidFill>
                <a:latin typeface="Calibri" pitchFamily="34" charset="0"/>
                <a:ea typeface="Calibri" pitchFamily="34" charset="-122"/>
                <a:cs typeface="Calibri" pitchFamily="34" charset="-120"/>
              </a:rPr>
              <a:t>Problema</a:t>
            </a:r>
            <a:endParaRPr lang="en-US" sz="900" dirty="0"/>
          </a:p>
        </p:txBody>
      </p:sp>
      <p:sp>
        <p:nvSpPr>
          <p:cNvPr id="21" name="nav3">
            <a:hlinkClick r:id="rId8" action="ppaction://hlinksldjump"/>
          </p:cNvPr>
          <p:cNvSpPr/>
          <p:nvPr/>
        </p:nvSpPr>
        <p:spPr>
          <a:xfrm>
            <a:off x="5029200" y="4818888"/>
            <a:ext cx="713232"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Solución</a:t>
            </a:r>
            <a:endParaRPr lang="en-US" sz="900" dirty="0"/>
          </a:p>
        </p:txBody>
      </p:sp>
      <p:sp>
        <p:nvSpPr>
          <p:cNvPr id="22" name="nav5">
            <a:hlinkClick r:id="rId9" action="ppaction://hlinksldjump"/>
          </p:cNvPr>
          <p:cNvSpPr/>
          <p:nvPr/>
        </p:nvSpPr>
        <p:spPr>
          <a:xfrm>
            <a:off x="5797296" y="4818888"/>
            <a:ext cx="1005840"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Cómo funciona</a:t>
            </a:r>
            <a:endParaRPr lang="en-US" sz="900" dirty="0"/>
          </a:p>
        </p:txBody>
      </p:sp>
      <p:sp>
        <p:nvSpPr>
          <p:cNvPr id="23" name="nav7">
            <a:hlinkClick r:id="rId10" action="ppaction://hlinksldjump"/>
          </p:cNvPr>
          <p:cNvSpPr/>
          <p:nvPr/>
        </p:nvSpPr>
        <p:spPr>
          <a:xfrm>
            <a:off x="6858000" y="4818888"/>
            <a:ext cx="457200"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MVP</a:t>
            </a:r>
            <a:endParaRPr lang="en-US" sz="900" dirty="0"/>
          </a:p>
        </p:txBody>
      </p:sp>
      <p:sp>
        <p:nvSpPr>
          <p:cNvPr id="24" name="nav8">
            <a:hlinkClick r:id="rId11" action="ppaction://hlinksldjump"/>
          </p:cNvPr>
          <p:cNvSpPr/>
          <p:nvPr/>
        </p:nvSpPr>
        <p:spPr>
          <a:xfrm>
            <a:off x="7370064" y="4818888"/>
            <a:ext cx="694944"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Negocio</a:t>
            </a:r>
            <a:endParaRPr lang="en-US" sz="900" dirty="0"/>
          </a:p>
        </p:txBody>
      </p:sp>
      <p:sp>
        <p:nvSpPr>
          <p:cNvPr id="25" name="nav9">
            <a:hlinkClick r:id="rId12" action="ppaction://hlinksldjump"/>
          </p:cNvPr>
          <p:cNvSpPr/>
          <p:nvPr/>
        </p:nvSpPr>
        <p:spPr>
          <a:xfrm>
            <a:off x="8119872" y="4818888"/>
            <a:ext cx="566928"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Cierre</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50"/>
                                        <p:tgtEl>
                                          <p:spTgt spid="9"/>
                                        </p:tgtEl>
                                      </p:cBhvr>
                                    </p:animEffect>
                                  </p:childTnLst>
                                </p:cTn>
                              </p:par>
                            </p:childTnLst>
                          </p:cTn>
                        </p:par>
                      </p:childTnLst>
                    </p:cTn>
                  </p:par>
                </p:childTnLst>
              </p:cTn>
              <p:nextCondLst>
                <p:cond evt="onClick" delay="0">
                  <p:tgtEl>
                    <p:spTgt spid="10"/>
                  </p:tgtEl>
                </p:cond>
              </p:nextCondLst>
            </p:seq>
            <p:seq concurrent="1" nextAc="seek">
              <p:cTn id="17" restart="whenNotActive" fill="hold" evtFilter="cancelBubble" nodeType="interactiveSeq">
                <p:stCondLst>
                  <p:cond evt="onClick" delay="0">
                    <p:tgtEl>
                      <p:spTgt spid="16"/>
                    </p:tgtEl>
                  </p:cond>
                </p:stCondLst>
                <p:endSync evt="end" delay="0">
                  <p:rtn val="all"/>
                </p:endSync>
                <p:childTnLst>
                  <p:par>
                    <p:cTn id="18" fill="hold">
                      <p:stCondLst>
                        <p:cond delay="0"/>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50"/>
                                        <p:tgtEl>
                                          <p:spTgt spid="15"/>
                                        </p:tgtEl>
                                      </p:cBhvr>
                                    </p:animEffect>
                                  </p:childTnLst>
                                </p:cTn>
                              </p:par>
                            </p:childTnLst>
                          </p:cTn>
                        </p:par>
                      </p:childTnLst>
                    </p:cTn>
                  </p:par>
                </p:childTnLst>
              </p:cTn>
              <p:nextCondLst>
                <p:cond evt="onClick" delay="0">
                  <p:tgtEl>
                    <p:spTgt spid="16"/>
                  </p:tgtEl>
                </p:cond>
              </p:nextCondLst>
            </p:seq>
          </p:childTnLst>
        </p:cTn>
      </p:par>
    </p:tnLst>
    <p:bldLst>
      <p:bldP spid="9" grpId="0" animBg="1"/>
      <p:bldP spid="15"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B33"/>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572000" cy="274320"/>
          </a:xfrm>
          <a:prstGeom prst="rect">
            <a:avLst/>
          </a:prstGeom>
          <a:noFill/>
          <a:ln/>
        </p:spPr>
        <p:txBody>
          <a:bodyPr wrap="square" lIns="0" tIns="0" rIns="0" bIns="0" rtlCol="0" anchor="ctr"/>
          <a:lstStyle/>
          <a:p>
            <a:pPr marL="0" indent="0">
              <a:buNone/>
            </a:pPr>
            <a:r>
              <a:rPr lang="en-US" sz="1100" b="1" kern="0" spc="300" dirty="0">
                <a:solidFill>
                  <a:srgbClr val="5FD3B5"/>
                </a:solidFill>
                <a:latin typeface="Calibri" pitchFamily="34" charset="0"/>
                <a:ea typeface="Calibri" pitchFamily="34" charset="-122"/>
                <a:cs typeface="Calibri" pitchFamily="34" charset="-120"/>
              </a:rPr>
              <a:t>LA SOLUCIÓN</a:t>
            </a:r>
            <a:endParaRPr lang="en-US" sz="11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Una cámara que entiende el movimiento</a:t>
            </a:r>
            <a:endParaRPr lang="en-US" sz="2800" dirty="0"/>
          </a:p>
        </p:txBody>
      </p:sp>
      <p:sp>
        <p:nvSpPr>
          <p:cNvPr id="4" name="Shape 2"/>
          <p:cNvSpPr/>
          <p:nvPr/>
        </p:nvSpPr>
        <p:spPr>
          <a:xfrm>
            <a:off x="457200" y="1280160"/>
            <a:ext cx="3291840" cy="3383280"/>
          </a:xfrm>
          <a:prstGeom prst="roundRect">
            <a:avLst>
              <a:gd name="adj" fmla="val 4167"/>
            </a:avLst>
          </a:prstGeom>
          <a:solidFill>
            <a:srgbClr val="133E47"/>
          </a:solidFill>
          <a:ln/>
        </p:spPr>
      </p:sp>
      <p:pic>
        <p:nvPicPr>
          <p:cNvPr id="5" name="Image 0" descr="preencoded.png"/>
          <p:cNvPicPr>
            <a:picLocks noChangeAspect="1"/>
          </p:cNvPicPr>
          <p:nvPr/>
        </p:nvPicPr>
        <p:blipFill>
          <a:blip r:embed="rId3"/>
          <a:stretch>
            <a:fillRect/>
          </a:stretch>
        </p:blipFill>
        <p:spPr>
          <a:xfrm>
            <a:off x="815959" y="1371600"/>
            <a:ext cx="2574322" cy="3168396"/>
          </a:xfrm>
          <a:prstGeom prst="rect">
            <a:avLst/>
          </a:prstGeom>
        </p:spPr>
      </p:pic>
      <p:pic>
        <p:nvPicPr>
          <p:cNvPr id="6" name="c1-1" descr="preencoded.png"/>
          <p:cNvPicPr>
            <a:picLocks noChangeAspect="1"/>
          </p:cNvPicPr>
          <p:nvPr/>
        </p:nvPicPr>
        <p:blipFill>
          <a:blip r:embed="rId4"/>
          <a:stretch>
            <a:fillRect/>
          </a:stretch>
        </p:blipFill>
        <p:spPr>
          <a:xfrm>
            <a:off x="815959" y="1371600"/>
            <a:ext cx="2574322" cy="3168396"/>
          </a:xfrm>
          <a:prstGeom prst="rect">
            <a:avLst/>
          </a:prstGeom>
        </p:spPr>
      </p:pic>
      <p:pic>
        <p:nvPicPr>
          <p:cNvPr id="7" name="c2-1" descr="preencoded.png"/>
          <p:cNvPicPr>
            <a:picLocks noChangeAspect="1"/>
          </p:cNvPicPr>
          <p:nvPr/>
        </p:nvPicPr>
        <p:blipFill>
          <a:blip r:embed="rId5"/>
          <a:stretch>
            <a:fillRect/>
          </a:stretch>
        </p:blipFill>
        <p:spPr>
          <a:xfrm>
            <a:off x="815959" y="1371600"/>
            <a:ext cx="2574322" cy="3168396"/>
          </a:xfrm>
          <a:prstGeom prst="rect">
            <a:avLst/>
          </a:prstGeom>
        </p:spPr>
      </p:pic>
      <p:pic>
        <p:nvPicPr>
          <p:cNvPr id="8" name="c3-1" descr="preencoded.png"/>
          <p:cNvPicPr>
            <a:picLocks noChangeAspect="1"/>
          </p:cNvPicPr>
          <p:nvPr/>
        </p:nvPicPr>
        <p:blipFill>
          <a:blip r:embed="rId6"/>
          <a:stretch>
            <a:fillRect/>
          </a:stretch>
        </p:blipFill>
        <p:spPr>
          <a:xfrm>
            <a:off x="815959" y="1371600"/>
            <a:ext cx="2574322" cy="3168396"/>
          </a:xfrm>
          <a:prstGeom prst="rect">
            <a:avLst/>
          </a:prstGeom>
        </p:spPr>
      </p:pic>
      <p:sp>
        <p:nvSpPr>
          <p:cNvPr id="9" name="c3-2"/>
          <p:cNvSpPr txBox="1"/>
          <p:nvPr/>
        </p:nvSpPr>
        <p:spPr>
          <a:xfrm>
            <a:off x="2697480" y="2606040"/>
            <a:ext cx="100584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ángulo del codo</a:t>
            </a:r>
            <a:endParaRPr lang="en-US" sz="900" dirty="0"/>
          </a:p>
        </p:txBody>
      </p:sp>
      <p:sp>
        <p:nvSpPr>
          <p:cNvPr id="10" name="c1-2"/>
          <p:cNvSpPr/>
          <p:nvPr/>
        </p:nvSpPr>
        <p:spPr>
          <a:xfrm>
            <a:off x="4114800" y="1389888"/>
            <a:ext cx="548640" cy="548640"/>
          </a:xfrm>
          <a:prstGeom prst="ellipse">
            <a:avLst/>
          </a:prstGeom>
          <a:solidFill>
            <a:srgbClr val="5FD3B5"/>
          </a:solidFill>
          <a:ln/>
        </p:spPr>
      </p:sp>
      <p:pic>
        <p:nvPicPr>
          <p:cNvPr id="11" name="c1-3" descr="preencoded.png"/>
          <p:cNvPicPr>
            <a:picLocks noChangeAspect="1"/>
          </p:cNvPicPr>
          <p:nvPr/>
        </p:nvPicPr>
        <p:blipFill>
          <a:blip r:embed="rId7"/>
          <a:stretch>
            <a:fillRect/>
          </a:stretch>
        </p:blipFill>
        <p:spPr>
          <a:xfrm>
            <a:off x="4251960" y="1527048"/>
            <a:ext cx="274320" cy="274320"/>
          </a:xfrm>
          <a:prstGeom prst="rect">
            <a:avLst/>
          </a:prstGeom>
        </p:spPr>
      </p:pic>
      <p:sp>
        <p:nvSpPr>
          <p:cNvPr id="12" name="c1-4"/>
          <p:cNvSpPr txBox="1"/>
          <p:nvPr/>
        </p:nvSpPr>
        <p:spPr>
          <a:xfrm>
            <a:off x="4846320" y="1280160"/>
            <a:ext cx="3840480" cy="822960"/>
          </a:xfrm>
          <a:prstGeom prst="rect">
            <a:avLst/>
          </a:prstGeom>
          <a:noFill/>
          <a:ln/>
        </p:spPr>
        <p:txBody>
          <a:bodyPr wrap="square" lIns="0" tIns="0" rIns="0" bIns="0" rtlCol="0" anchor="t"/>
          <a:lstStyle/>
          <a:p>
            <a:pPr marL="0" indent="0">
              <a:spcAft>
                <a:spcPts val="300"/>
              </a:spcAft>
              <a:buNone/>
            </a:pPr>
            <a:r>
              <a:rPr lang="en-US" sz="1600" b="1" dirty="0">
                <a:solidFill>
                  <a:srgbClr val="FFFFFF"/>
                </a:solidFill>
                <a:latin typeface="Arial" pitchFamily="34" charset="0"/>
                <a:ea typeface="Arial" pitchFamily="34" charset="-122"/>
                <a:cs typeface="Arial" pitchFamily="34" charset="-120"/>
              </a:rPr>
              <a:t>1 · Keypoints</a:t>
            </a:r>
            <a:endParaRPr lang="en-US" sz="1600" dirty="0"/>
          </a:p>
          <a:p>
            <a:pPr marL="0" indent="0">
              <a:spcAft>
                <a:spcPts val="300"/>
              </a:spcAft>
              <a:buNone/>
            </a:pPr>
            <a:r>
              <a:rPr lang="en-US" sz="1200" dirty="0">
                <a:solidFill>
                  <a:srgbClr val="CFE3E0"/>
                </a:solidFill>
                <a:latin typeface="Calibri" pitchFamily="34" charset="0"/>
                <a:ea typeface="Calibri" pitchFamily="34" charset="-122"/>
                <a:cs typeface="Calibri" pitchFamily="34" charset="-120"/>
              </a:rPr>
              <a:t>Detecta 33 puntos clave del cuerpo en cada cuadro del video (MediaPipe Pose).</a:t>
            </a:r>
            <a:endParaRPr lang="en-US" sz="1600" dirty="0"/>
          </a:p>
        </p:txBody>
      </p:sp>
      <p:sp>
        <p:nvSpPr>
          <p:cNvPr id="13" name="c2-2"/>
          <p:cNvSpPr/>
          <p:nvPr/>
        </p:nvSpPr>
        <p:spPr>
          <a:xfrm>
            <a:off x="4114800" y="2322576"/>
            <a:ext cx="548640" cy="548640"/>
          </a:xfrm>
          <a:prstGeom prst="ellipse">
            <a:avLst/>
          </a:prstGeom>
          <a:solidFill>
            <a:srgbClr val="5FD3B5"/>
          </a:solidFill>
          <a:ln/>
        </p:spPr>
      </p:sp>
      <p:pic>
        <p:nvPicPr>
          <p:cNvPr id="14" name="c2-3" descr="preencoded.png"/>
          <p:cNvPicPr>
            <a:picLocks noChangeAspect="1"/>
          </p:cNvPicPr>
          <p:nvPr/>
        </p:nvPicPr>
        <p:blipFill>
          <a:blip r:embed="rId8"/>
          <a:stretch>
            <a:fillRect/>
          </a:stretch>
        </p:blipFill>
        <p:spPr>
          <a:xfrm>
            <a:off x="4251960" y="2459736"/>
            <a:ext cx="274320" cy="274320"/>
          </a:xfrm>
          <a:prstGeom prst="rect">
            <a:avLst/>
          </a:prstGeom>
        </p:spPr>
      </p:pic>
      <p:sp>
        <p:nvSpPr>
          <p:cNvPr id="15" name="c2-4"/>
          <p:cNvSpPr txBox="1"/>
          <p:nvPr/>
        </p:nvSpPr>
        <p:spPr>
          <a:xfrm>
            <a:off x="4846320" y="2212848"/>
            <a:ext cx="3840480" cy="822960"/>
          </a:xfrm>
          <a:prstGeom prst="rect">
            <a:avLst/>
          </a:prstGeom>
          <a:noFill/>
          <a:ln/>
        </p:spPr>
        <p:txBody>
          <a:bodyPr wrap="square" lIns="0" tIns="0" rIns="0" bIns="0" rtlCol="0" anchor="t"/>
          <a:lstStyle/>
          <a:p>
            <a:pPr marL="0" indent="0">
              <a:spcAft>
                <a:spcPts val="300"/>
              </a:spcAft>
              <a:buNone/>
            </a:pPr>
            <a:r>
              <a:rPr lang="en-US" sz="1600" b="1" dirty="0">
                <a:solidFill>
                  <a:srgbClr val="FFFFFF"/>
                </a:solidFill>
                <a:latin typeface="Arial" pitchFamily="34" charset="0"/>
                <a:ea typeface="Arial" pitchFamily="34" charset="-122"/>
                <a:cs typeface="Arial" pitchFamily="34" charset="-120"/>
              </a:rPr>
              <a:t>2 · Esqueleto</a:t>
            </a:r>
            <a:endParaRPr lang="en-US" sz="1600" dirty="0"/>
          </a:p>
          <a:p>
            <a:pPr marL="0" indent="0">
              <a:spcAft>
                <a:spcPts val="300"/>
              </a:spcAft>
              <a:buNone/>
            </a:pPr>
            <a:r>
              <a:rPr lang="en-US" sz="1200" dirty="0">
                <a:solidFill>
                  <a:srgbClr val="CFE3E0"/>
                </a:solidFill>
                <a:latin typeface="Calibri" pitchFamily="34" charset="0"/>
                <a:ea typeface="Calibri" pitchFamily="34" charset="-122"/>
                <a:cs typeface="Calibri" pitchFamily="34" charset="-120"/>
              </a:rPr>
              <a:t>Conecta los puntos en articulaciones: hombro, codo, muñeca, cadera, rodilla.</a:t>
            </a:r>
            <a:endParaRPr lang="en-US" sz="1600" dirty="0"/>
          </a:p>
        </p:txBody>
      </p:sp>
      <p:sp>
        <p:nvSpPr>
          <p:cNvPr id="16" name="c3-2"/>
          <p:cNvSpPr/>
          <p:nvPr/>
        </p:nvSpPr>
        <p:spPr>
          <a:xfrm>
            <a:off x="4114800" y="3255264"/>
            <a:ext cx="548640" cy="548640"/>
          </a:xfrm>
          <a:prstGeom prst="ellipse">
            <a:avLst/>
          </a:prstGeom>
          <a:solidFill>
            <a:srgbClr val="5FD3B5"/>
          </a:solidFill>
          <a:ln/>
        </p:spPr>
      </p:sp>
      <p:pic>
        <p:nvPicPr>
          <p:cNvPr id="17" name="c3-3" descr="preencoded.png"/>
          <p:cNvPicPr>
            <a:picLocks noChangeAspect="1"/>
          </p:cNvPicPr>
          <p:nvPr/>
        </p:nvPicPr>
        <p:blipFill>
          <a:blip r:embed="rId9"/>
          <a:stretch>
            <a:fillRect/>
          </a:stretch>
        </p:blipFill>
        <p:spPr>
          <a:xfrm>
            <a:off x="4251960" y="3392424"/>
            <a:ext cx="274320" cy="274320"/>
          </a:xfrm>
          <a:prstGeom prst="rect">
            <a:avLst/>
          </a:prstGeom>
        </p:spPr>
      </p:pic>
      <p:sp>
        <p:nvSpPr>
          <p:cNvPr id="18" name="c3-4"/>
          <p:cNvSpPr txBox="1"/>
          <p:nvPr/>
        </p:nvSpPr>
        <p:spPr>
          <a:xfrm>
            <a:off x="4846320" y="3145536"/>
            <a:ext cx="3840480" cy="822960"/>
          </a:xfrm>
          <a:prstGeom prst="rect">
            <a:avLst/>
          </a:prstGeom>
          <a:noFill/>
          <a:ln/>
        </p:spPr>
        <p:txBody>
          <a:bodyPr wrap="square" lIns="0" tIns="0" rIns="0" bIns="0" rtlCol="0" anchor="t"/>
          <a:lstStyle/>
          <a:p>
            <a:pPr marL="0" indent="0">
              <a:spcAft>
                <a:spcPts val="300"/>
              </a:spcAft>
              <a:buNone/>
            </a:pPr>
            <a:r>
              <a:rPr lang="en-US" sz="1600" b="1" dirty="0">
                <a:solidFill>
                  <a:srgbClr val="FFFFFF"/>
                </a:solidFill>
                <a:latin typeface="Arial" pitchFamily="34" charset="0"/>
                <a:ea typeface="Arial" pitchFamily="34" charset="-122"/>
                <a:cs typeface="Arial" pitchFamily="34" charset="-120"/>
              </a:rPr>
              <a:t>3 · Trayectoria</a:t>
            </a:r>
            <a:endParaRPr lang="en-US" sz="1600" dirty="0"/>
          </a:p>
          <a:p>
            <a:pPr marL="0" indent="0">
              <a:spcAft>
                <a:spcPts val="300"/>
              </a:spcAft>
              <a:buNone/>
            </a:pPr>
            <a:r>
              <a:rPr lang="en-US" sz="1200" dirty="0">
                <a:solidFill>
                  <a:srgbClr val="CFE3E0"/>
                </a:solidFill>
                <a:latin typeface="Calibri" pitchFamily="34" charset="0"/>
                <a:ea typeface="Calibri" pitchFamily="34" charset="-122"/>
                <a:cs typeface="Calibri" pitchFamily="34" charset="-120"/>
              </a:rPr>
              <a:t>Sigue cómo cambian los ángulos y posiciones en el tiempo, repetición por repetición.</a:t>
            </a:r>
            <a:endParaRPr lang="en-US" sz="1600" dirty="0"/>
          </a:p>
        </p:txBody>
      </p:sp>
      <p:sp>
        <p:nvSpPr>
          <p:cNvPr id="19" name="c4-1"/>
          <p:cNvSpPr/>
          <p:nvPr/>
        </p:nvSpPr>
        <p:spPr>
          <a:xfrm>
            <a:off x="4114800" y="4114800"/>
            <a:ext cx="4572000" cy="548640"/>
          </a:xfrm>
          <a:prstGeom prst="roundRect">
            <a:avLst>
              <a:gd name="adj" fmla="val 20000"/>
            </a:avLst>
          </a:prstGeom>
          <a:solidFill>
            <a:srgbClr val="FF6B5B"/>
          </a:solidFill>
          <a:ln/>
        </p:spPr>
        <p:txBody>
          <a:bodyPr wrap="square" lIns="139700" tIns="139700" rIns="139700" bIns="139700" rtlCol="0" anchor="ctr"/>
          <a:lstStyle/>
          <a:p>
            <a:pPr marL="0" indent="0">
              <a:buNone/>
            </a:pPr>
            <a:r>
              <a:rPr lang="en-US" sz="1300" b="1" dirty="0">
                <a:solidFill>
                  <a:srgbClr val="FFFFFF"/>
                </a:solidFill>
                <a:latin typeface="Arial" pitchFamily="34" charset="0"/>
                <a:ea typeface="Arial" pitchFamily="34" charset="-122"/>
                <a:cs typeface="Arial" pitchFamily="34" charset="-120"/>
              </a:rPr>
              <a:t>No solo vemos que te mueves: medimos cómo lo haces.</a:t>
            </a:r>
            <a:endParaRPr lang="en-US" sz="1300" dirty="0"/>
          </a:p>
        </p:txBody>
      </p:sp>
      <p:sp>
        <p:nvSpPr>
          <p:cNvPr id="20" name="Text 11"/>
          <p:cNvSpPr txBox="1"/>
          <p:nvPr/>
        </p:nvSpPr>
        <p:spPr>
          <a:xfrm>
            <a:off x="457200" y="4818888"/>
            <a:ext cx="914400" cy="219456"/>
          </a:xfrm>
          <a:prstGeom prst="rect">
            <a:avLst/>
          </a:prstGeom>
          <a:noFill/>
          <a:ln/>
        </p:spPr>
        <p:txBody>
          <a:bodyPr wrap="square" lIns="0" tIns="0" rIns="0" bIns="0" rtlCol="0" anchor="ctr"/>
          <a:lstStyle/>
          <a:p>
            <a:pPr marL="0" indent="0">
              <a:buNone/>
            </a:pPr>
            <a:r>
              <a:rPr lang="en-US" sz="900" dirty="0">
                <a:solidFill>
                  <a:srgbClr val="8FB3AF"/>
                </a:solidFill>
                <a:latin typeface="Calibri" pitchFamily="34" charset="0"/>
                <a:ea typeface="Calibri" pitchFamily="34" charset="-122"/>
                <a:cs typeface="Calibri" pitchFamily="34" charset="-120"/>
              </a:rPr>
              <a:t>3 / 9</a:t>
            </a:r>
            <a:endParaRPr lang="en-US" sz="900" dirty="0"/>
          </a:p>
        </p:txBody>
      </p:sp>
      <p:sp>
        <p:nvSpPr>
          <p:cNvPr id="21" name="nav1">
            <a:hlinkClick r:id="rId10" action="ppaction://hlinksldjump"/>
          </p:cNvPr>
          <p:cNvSpPr/>
          <p:nvPr/>
        </p:nvSpPr>
        <p:spPr>
          <a:xfrm>
            <a:off x="4242816" y="4818888"/>
            <a:ext cx="73152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Problema</a:t>
            </a:r>
            <a:endParaRPr lang="en-US" sz="900" dirty="0"/>
          </a:p>
        </p:txBody>
      </p:sp>
      <p:sp>
        <p:nvSpPr>
          <p:cNvPr id="22" name="nav3">
            <a:hlinkClick r:id="rId11" action="ppaction://hlinksldjump"/>
          </p:cNvPr>
          <p:cNvSpPr/>
          <p:nvPr/>
        </p:nvSpPr>
        <p:spPr>
          <a:xfrm>
            <a:off x="5029200" y="4818888"/>
            <a:ext cx="713232" cy="219456"/>
          </a:xfrm>
          <a:prstGeom prst="roundRect">
            <a:avLst>
              <a:gd name="adj" fmla="val 50000"/>
            </a:avLst>
          </a:prstGeom>
          <a:solidFill>
            <a:srgbClr val="5FD3B5"/>
          </a:solidFill>
          <a:ln/>
        </p:spPr>
        <p:txBody>
          <a:bodyPr wrap="square" lIns="0" tIns="0" rIns="0" bIns="0" rtlCol="0" anchor="ctr"/>
          <a:lstStyle/>
          <a:p>
            <a:pPr marL="0" indent="0" algn="ctr">
              <a:buNone/>
            </a:pPr>
            <a:r>
              <a:rPr lang="en-US" sz="900" b="1" dirty="0">
                <a:solidFill>
                  <a:srgbClr val="0B2B33"/>
                </a:solidFill>
                <a:latin typeface="Calibri" pitchFamily="34" charset="0"/>
                <a:ea typeface="Calibri" pitchFamily="34" charset="-122"/>
                <a:cs typeface="Calibri" pitchFamily="34" charset="-120"/>
              </a:rPr>
              <a:t>Solución</a:t>
            </a:r>
            <a:endParaRPr lang="en-US" sz="900" dirty="0"/>
          </a:p>
        </p:txBody>
      </p:sp>
      <p:sp>
        <p:nvSpPr>
          <p:cNvPr id="23" name="nav5">
            <a:hlinkClick r:id="rId12" action="ppaction://hlinksldjump"/>
          </p:cNvPr>
          <p:cNvSpPr/>
          <p:nvPr/>
        </p:nvSpPr>
        <p:spPr>
          <a:xfrm>
            <a:off x="5797296" y="4818888"/>
            <a:ext cx="100584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Cómo funciona</a:t>
            </a:r>
            <a:endParaRPr lang="en-US" sz="900" dirty="0"/>
          </a:p>
        </p:txBody>
      </p:sp>
      <p:sp>
        <p:nvSpPr>
          <p:cNvPr id="24" name="nav7">
            <a:hlinkClick r:id="rId13" action="ppaction://hlinksldjump"/>
          </p:cNvPr>
          <p:cNvSpPr/>
          <p:nvPr/>
        </p:nvSpPr>
        <p:spPr>
          <a:xfrm>
            <a:off x="6858000" y="4818888"/>
            <a:ext cx="45720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MVP</a:t>
            </a:r>
            <a:endParaRPr lang="en-US" sz="900" dirty="0"/>
          </a:p>
        </p:txBody>
      </p:sp>
      <p:sp>
        <p:nvSpPr>
          <p:cNvPr id="25" name="nav8">
            <a:hlinkClick r:id="rId14" action="ppaction://hlinksldjump"/>
          </p:cNvPr>
          <p:cNvSpPr/>
          <p:nvPr/>
        </p:nvSpPr>
        <p:spPr>
          <a:xfrm>
            <a:off x="7370064" y="4818888"/>
            <a:ext cx="694944"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Negocio</a:t>
            </a:r>
            <a:endParaRPr lang="en-US" sz="900" dirty="0"/>
          </a:p>
        </p:txBody>
      </p:sp>
      <p:sp>
        <p:nvSpPr>
          <p:cNvPr id="26" name="nav9">
            <a:hlinkClick r:id="rId15" action="ppaction://hlinksldjump"/>
          </p:cNvPr>
          <p:cNvSpPr/>
          <p:nvPr/>
        </p:nvSpPr>
        <p:spPr>
          <a:xfrm>
            <a:off x="8119872" y="4818888"/>
            <a:ext cx="566928"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Cierre</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450"/>
                                        <p:tgtEl>
                                          <p:spTgt spid="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450"/>
                                        <p:tgtEl>
                                          <p:spTgt spid="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572000" cy="274320"/>
          </a:xfrm>
          <a:prstGeom prst="rect">
            <a:avLst/>
          </a:prstGeom>
          <a:noFill/>
          <a:ln/>
        </p:spPr>
        <p:txBody>
          <a:bodyPr wrap="square" lIns="0" tIns="0" rIns="0" bIns="0" rtlCol="0" anchor="ctr"/>
          <a:lstStyle/>
          <a:p>
            <a:pPr marL="0" indent="0">
              <a:buNone/>
            </a:pPr>
            <a:r>
              <a:rPr lang="en-US" sz="1100" b="1" kern="0" spc="300" dirty="0">
                <a:solidFill>
                  <a:srgbClr val="0E7C7B"/>
                </a:solidFill>
                <a:latin typeface="Calibri" pitchFamily="34" charset="0"/>
                <a:ea typeface="Calibri" pitchFamily="34" charset="-122"/>
                <a:cs typeface="Calibri" pitchFamily="34" charset="-120"/>
              </a:rPr>
              <a:t>LA DIFERENCIA</a:t>
            </a:r>
            <a:endParaRPr lang="en-US" sz="11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12343B"/>
                </a:solidFill>
                <a:latin typeface="Arial" pitchFamily="34" charset="0"/>
                <a:ea typeface="Arial" pitchFamily="34" charset="-122"/>
                <a:cs typeface="Arial" pitchFamily="34" charset="-120"/>
              </a:rPr>
              <a:t>De contar repeticiones a evaluar el movimiento</a:t>
            </a:r>
            <a:endParaRPr lang="en-US" sz="2800" dirty="0"/>
          </a:p>
        </p:txBody>
      </p:sp>
      <p:sp>
        <p:nvSpPr>
          <p:cNvPr id="4" name="Text 2"/>
          <p:cNvSpPr txBox="1"/>
          <p:nvPr/>
        </p:nvSpPr>
        <p:spPr>
          <a:xfrm>
            <a:off x="457200" y="1078992"/>
            <a:ext cx="5486400" cy="274320"/>
          </a:xfrm>
          <a:prstGeom prst="rect">
            <a:avLst/>
          </a:prstGeom>
          <a:noFill/>
          <a:ln/>
        </p:spPr>
        <p:txBody>
          <a:bodyPr wrap="square" lIns="0" tIns="0" rIns="0" bIns="0" rtlCol="0" anchor="ctr"/>
          <a:lstStyle/>
          <a:p>
            <a:pPr marL="0" indent="0">
              <a:buNone/>
            </a:pPr>
            <a:r>
              <a:rPr lang="en-US" sz="1400" i="1" dirty="0">
                <a:solidFill>
                  <a:srgbClr val="5B7680"/>
                </a:solidFill>
                <a:latin typeface="Calibri" pitchFamily="34" charset="0"/>
                <a:ea typeface="Calibri" pitchFamily="34" charset="-122"/>
                <a:cs typeface="Calibri" pitchFamily="34" charset="-120"/>
              </a:rPr>
              <a:t>Ejemplo: flexión de codo</a:t>
            </a:r>
            <a:endParaRPr lang="en-US" sz="1400" dirty="0"/>
          </a:p>
        </p:txBody>
      </p:sp>
      <p:sp>
        <p:nvSpPr>
          <p:cNvPr id="5" name="Shape 3"/>
          <p:cNvSpPr/>
          <p:nvPr/>
        </p:nvSpPr>
        <p:spPr>
          <a:xfrm>
            <a:off x="457200" y="1508760"/>
            <a:ext cx="3017520" cy="3154680"/>
          </a:xfrm>
          <a:prstGeom prst="roundRect">
            <a:avLst>
              <a:gd name="adj" fmla="val 4545"/>
            </a:avLst>
          </a:prstGeom>
          <a:solidFill>
            <a:srgbClr val="E8F5F2"/>
          </a:solidFill>
          <a:ln/>
        </p:spPr>
      </p:sp>
      <p:sp>
        <p:nvSpPr>
          <p:cNvPr id="6" name="Text 4"/>
          <p:cNvSpPr txBox="1"/>
          <p:nvPr/>
        </p:nvSpPr>
        <p:spPr>
          <a:xfrm>
            <a:off x="685800" y="1691640"/>
            <a:ext cx="2560320" cy="274320"/>
          </a:xfrm>
          <a:prstGeom prst="rect">
            <a:avLst/>
          </a:prstGeom>
          <a:noFill/>
          <a:ln/>
        </p:spPr>
        <p:txBody>
          <a:bodyPr wrap="square" lIns="0" tIns="0" rIns="0" bIns="0" rtlCol="0" anchor="ctr"/>
          <a:lstStyle/>
          <a:p>
            <a:pPr marL="0" indent="0">
              <a:buNone/>
            </a:pPr>
            <a:r>
              <a:rPr lang="en-US" sz="1200" b="1" kern="0" spc="100" dirty="0">
                <a:solidFill>
                  <a:srgbClr val="5B7680"/>
                </a:solidFill>
                <a:latin typeface="Calibri" pitchFamily="34" charset="0"/>
                <a:ea typeface="Calibri" pitchFamily="34" charset="-122"/>
                <a:cs typeface="Calibri" pitchFamily="34" charset="-120"/>
              </a:rPr>
              <a:t>Lo que hacen otros</a:t>
            </a:r>
            <a:endParaRPr lang="en-US" sz="1200" dirty="0"/>
          </a:p>
        </p:txBody>
      </p:sp>
      <p:sp>
        <p:nvSpPr>
          <p:cNvPr id="7" name="Text 5"/>
          <p:cNvSpPr txBox="1"/>
          <p:nvPr/>
        </p:nvSpPr>
        <p:spPr>
          <a:xfrm>
            <a:off x="685800" y="2011680"/>
            <a:ext cx="2560320" cy="1097280"/>
          </a:xfrm>
          <a:prstGeom prst="rect">
            <a:avLst/>
          </a:prstGeom>
          <a:noFill/>
          <a:ln/>
        </p:spPr>
        <p:txBody>
          <a:bodyPr wrap="square" lIns="0" tIns="0" rIns="0" bIns="0" rtlCol="0" anchor="ctr"/>
          <a:lstStyle/>
          <a:p>
            <a:pPr marL="0" indent="0">
              <a:buNone/>
            </a:pPr>
            <a:r>
              <a:rPr lang="en-US" sz="8000" b="1" dirty="0">
                <a:solidFill>
                  <a:srgbClr val="12343B"/>
                </a:solidFill>
                <a:latin typeface="Arial" pitchFamily="34" charset="0"/>
                <a:ea typeface="Arial" pitchFamily="34" charset="-122"/>
                <a:cs typeface="Arial" pitchFamily="34" charset="-120"/>
              </a:rPr>
              <a:t>12</a:t>
            </a:r>
            <a:endParaRPr lang="en-US" sz="8000" dirty="0"/>
          </a:p>
        </p:txBody>
      </p:sp>
      <p:sp>
        <p:nvSpPr>
          <p:cNvPr id="8" name="Text 6"/>
          <p:cNvSpPr txBox="1"/>
          <p:nvPr/>
        </p:nvSpPr>
        <p:spPr>
          <a:xfrm>
            <a:off x="685800" y="3108960"/>
            <a:ext cx="2560320" cy="320040"/>
          </a:xfrm>
          <a:prstGeom prst="rect">
            <a:avLst/>
          </a:prstGeom>
          <a:noFill/>
          <a:ln/>
        </p:spPr>
        <p:txBody>
          <a:bodyPr wrap="square" lIns="0" tIns="0" rIns="0" bIns="0" rtlCol="0" anchor="ctr"/>
          <a:lstStyle/>
          <a:p>
            <a:pPr marL="0" indent="0">
              <a:buNone/>
            </a:pPr>
            <a:r>
              <a:rPr lang="en-US" sz="1800" dirty="0">
                <a:solidFill>
                  <a:srgbClr val="12343B"/>
                </a:solidFill>
                <a:latin typeface="Calibri" pitchFamily="34" charset="0"/>
                <a:ea typeface="Calibri" pitchFamily="34" charset="-122"/>
                <a:cs typeface="Calibri" pitchFamily="34" charset="-120"/>
              </a:rPr>
              <a:t>repeticiones</a:t>
            </a:r>
            <a:endParaRPr lang="en-US" sz="1800" dirty="0"/>
          </a:p>
        </p:txBody>
      </p:sp>
      <p:sp>
        <p:nvSpPr>
          <p:cNvPr id="9" name="Text 7"/>
          <p:cNvSpPr/>
          <p:nvPr/>
        </p:nvSpPr>
        <p:spPr>
          <a:xfrm>
            <a:off x="685800" y="3749040"/>
            <a:ext cx="2560320" cy="594360"/>
          </a:xfrm>
          <a:prstGeom prst="roundRect">
            <a:avLst>
              <a:gd name="adj" fmla="val 18462"/>
            </a:avLst>
          </a:prstGeom>
          <a:solidFill>
            <a:srgbClr val="FFFFFF"/>
          </a:solidFill>
          <a:ln/>
        </p:spPr>
        <p:txBody>
          <a:bodyPr wrap="square" lIns="114300" tIns="114300" rIns="114300" bIns="114300" rtlCol="0" anchor="ctr"/>
          <a:lstStyle/>
          <a:p>
            <a:pPr marL="0" indent="0">
              <a:buNone/>
            </a:pPr>
            <a:r>
              <a:rPr lang="en-US" sz="1300" b="1" dirty="0">
                <a:solidFill>
                  <a:srgbClr val="FF6B5B"/>
                </a:solidFill>
                <a:latin typeface="Calibri" pitchFamily="34" charset="0"/>
                <a:ea typeface="Calibri" pitchFamily="34" charset="-122"/>
                <a:cs typeface="Calibri" pitchFamily="34" charset="-120"/>
              </a:rPr>
              <a:t>¿Estuvieron bien hechas? No lo sabe.</a:t>
            </a:r>
            <a:endParaRPr lang="en-US" sz="1300" dirty="0"/>
          </a:p>
        </p:txBody>
      </p:sp>
      <p:sp>
        <p:nvSpPr>
          <p:cNvPr id="10" name="Text 8"/>
          <p:cNvSpPr txBox="1"/>
          <p:nvPr/>
        </p:nvSpPr>
        <p:spPr>
          <a:xfrm>
            <a:off x="3566160" y="2743200"/>
            <a:ext cx="548640" cy="548640"/>
          </a:xfrm>
          <a:prstGeom prst="rect">
            <a:avLst/>
          </a:prstGeom>
          <a:noFill/>
          <a:ln/>
        </p:spPr>
        <p:txBody>
          <a:bodyPr wrap="square" lIns="0" tIns="0" rIns="0" bIns="0" rtlCol="0" anchor="ctr"/>
          <a:lstStyle/>
          <a:p>
            <a:pPr marL="0" indent="0" algn="ctr">
              <a:buNone/>
            </a:pPr>
            <a:r>
              <a:rPr lang="en-US" sz="3600" b="1" dirty="0">
                <a:solidFill>
                  <a:srgbClr val="0E7C7B"/>
                </a:solidFill>
                <a:latin typeface="Arial" pitchFamily="34" charset="0"/>
                <a:ea typeface="Arial" pitchFamily="34" charset="-122"/>
                <a:cs typeface="Arial" pitchFamily="34" charset="-120"/>
              </a:rPr>
              <a:t>→</a:t>
            </a:r>
            <a:endParaRPr lang="en-US" sz="3600" dirty="0"/>
          </a:p>
        </p:txBody>
      </p:sp>
      <p:sp>
        <p:nvSpPr>
          <p:cNvPr id="11" name="Shape 9"/>
          <p:cNvSpPr/>
          <p:nvPr/>
        </p:nvSpPr>
        <p:spPr>
          <a:xfrm>
            <a:off x="4206240" y="1508760"/>
            <a:ext cx="4480560" cy="3154680"/>
          </a:xfrm>
          <a:prstGeom prst="roundRect">
            <a:avLst>
              <a:gd name="adj" fmla="val 4348"/>
            </a:avLst>
          </a:prstGeom>
          <a:solidFill>
            <a:srgbClr val="0B2B33"/>
          </a:solidFill>
          <a:ln/>
        </p:spPr>
      </p:sp>
      <p:sp>
        <p:nvSpPr>
          <p:cNvPr id="12" name="Text 10"/>
          <p:cNvSpPr txBox="1"/>
          <p:nvPr/>
        </p:nvSpPr>
        <p:spPr>
          <a:xfrm>
            <a:off x="4434840" y="1691640"/>
            <a:ext cx="4023360" cy="274320"/>
          </a:xfrm>
          <a:prstGeom prst="rect">
            <a:avLst/>
          </a:prstGeom>
          <a:noFill/>
          <a:ln/>
        </p:spPr>
        <p:txBody>
          <a:bodyPr wrap="square" lIns="0" tIns="0" rIns="0" bIns="0" rtlCol="0" anchor="ctr"/>
          <a:lstStyle/>
          <a:p>
            <a:pPr marL="0" indent="0">
              <a:buNone/>
            </a:pPr>
            <a:r>
              <a:rPr lang="en-US" sz="1200" b="1" kern="0" spc="100" dirty="0">
                <a:solidFill>
                  <a:srgbClr val="5FD3B5"/>
                </a:solidFill>
                <a:latin typeface="Calibri" pitchFamily="34" charset="0"/>
                <a:ea typeface="Calibri" pitchFamily="34" charset="-122"/>
                <a:cs typeface="Calibri" pitchFamily="34" charset="-120"/>
              </a:rPr>
              <a:t>Lo que hace GYMFITX Rehab</a:t>
            </a:r>
            <a:endParaRPr lang="en-US" sz="1200" dirty="0"/>
          </a:p>
        </p:txBody>
      </p:sp>
      <p:pic>
        <p:nvPicPr>
          <p:cNvPr id="13" name="c1-1" descr="preencoded.png"/>
          <p:cNvPicPr>
            <a:picLocks noChangeAspect="1"/>
          </p:cNvPicPr>
          <p:nvPr/>
        </p:nvPicPr>
        <p:blipFill>
          <a:blip r:embed="rId3"/>
          <a:stretch>
            <a:fillRect/>
          </a:stretch>
        </p:blipFill>
        <p:spPr>
          <a:xfrm>
            <a:off x="4434840" y="2176272"/>
            <a:ext cx="292608" cy="292608"/>
          </a:xfrm>
          <a:prstGeom prst="rect">
            <a:avLst/>
          </a:prstGeom>
        </p:spPr>
      </p:pic>
      <p:sp>
        <p:nvSpPr>
          <p:cNvPr id="14" name="c1-2"/>
          <p:cNvSpPr txBox="1"/>
          <p:nvPr/>
        </p:nvSpPr>
        <p:spPr>
          <a:xfrm>
            <a:off x="4892040" y="2103120"/>
            <a:ext cx="192024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Ángulo del codo</a:t>
            </a:r>
            <a:endParaRPr lang="en-US" sz="1300" dirty="0"/>
          </a:p>
        </p:txBody>
      </p:sp>
      <p:sp>
        <p:nvSpPr>
          <p:cNvPr id="15" name="c1-3"/>
          <p:cNvSpPr txBox="1"/>
          <p:nvPr/>
        </p:nvSpPr>
        <p:spPr>
          <a:xfrm>
            <a:off x="6812280" y="2103120"/>
            <a:ext cx="1645920" cy="228600"/>
          </a:xfrm>
          <a:prstGeom prst="rect">
            <a:avLst/>
          </a:prstGeom>
          <a:noFill/>
          <a:ln/>
        </p:spPr>
        <p:txBody>
          <a:bodyPr wrap="square" lIns="0" tIns="0" rIns="0" bIns="0" rtlCol="0" anchor="ctr"/>
          <a:lstStyle/>
          <a:p>
            <a:pPr marL="0" indent="0" algn="r">
              <a:buNone/>
            </a:pPr>
            <a:r>
              <a:rPr lang="en-US" sz="1100" dirty="0">
                <a:solidFill>
                  <a:srgbClr val="5FD3B5"/>
                </a:solidFill>
                <a:latin typeface="Calibri" pitchFamily="34" charset="0"/>
                <a:ea typeface="Calibri" pitchFamily="34" charset="-122"/>
                <a:cs typeface="Calibri" pitchFamily="34" charset="-120"/>
              </a:rPr>
              <a:t>rango completo</a:t>
            </a:r>
            <a:endParaRPr lang="en-US" sz="1100" dirty="0"/>
          </a:p>
        </p:txBody>
      </p:sp>
      <p:sp>
        <p:nvSpPr>
          <p:cNvPr id="16" name="c1-4"/>
          <p:cNvSpPr/>
          <p:nvPr/>
        </p:nvSpPr>
        <p:spPr>
          <a:xfrm>
            <a:off x="4892040" y="2395728"/>
            <a:ext cx="3566160" cy="118872"/>
          </a:xfrm>
          <a:prstGeom prst="roundRect">
            <a:avLst>
              <a:gd name="adj" fmla="val 46154"/>
            </a:avLst>
          </a:prstGeom>
          <a:solidFill>
            <a:srgbClr val="2A5560"/>
          </a:solidFill>
          <a:ln/>
        </p:spPr>
      </p:sp>
      <p:sp>
        <p:nvSpPr>
          <p:cNvPr id="17" name="c1-5"/>
          <p:cNvSpPr/>
          <p:nvPr/>
        </p:nvSpPr>
        <p:spPr>
          <a:xfrm>
            <a:off x="4892040" y="2395728"/>
            <a:ext cx="3209544" cy="118872"/>
          </a:xfrm>
          <a:prstGeom prst="roundRect">
            <a:avLst>
              <a:gd name="adj" fmla="val 46154"/>
            </a:avLst>
          </a:prstGeom>
          <a:solidFill>
            <a:srgbClr val="5FD3B5"/>
          </a:solidFill>
          <a:ln/>
        </p:spPr>
      </p:sp>
      <p:pic>
        <p:nvPicPr>
          <p:cNvPr id="18" name="c2-1" descr="preencoded.png"/>
          <p:cNvPicPr>
            <a:picLocks noChangeAspect="1"/>
          </p:cNvPicPr>
          <p:nvPr/>
        </p:nvPicPr>
        <p:blipFill>
          <a:blip r:embed="rId4"/>
          <a:stretch>
            <a:fillRect/>
          </a:stretch>
        </p:blipFill>
        <p:spPr>
          <a:xfrm>
            <a:off x="4434840" y="2798064"/>
            <a:ext cx="292608" cy="292608"/>
          </a:xfrm>
          <a:prstGeom prst="rect">
            <a:avLst/>
          </a:prstGeom>
        </p:spPr>
      </p:pic>
      <p:sp>
        <p:nvSpPr>
          <p:cNvPr id="19" name="c2-2"/>
          <p:cNvSpPr txBox="1"/>
          <p:nvPr/>
        </p:nvSpPr>
        <p:spPr>
          <a:xfrm>
            <a:off x="4892040" y="2724912"/>
            <a:ext cx="192024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Posición del hombro</a:t>
            </a:r>
            <a:endParaRPr lang="en-US" sz="1300" dirty="0"/>
          </a:p>
        </p:txBody>
      </p:sp>
      <p:sp>
        <p:nvSpPr>
          <p:cNvPr id="20" name="c2-3"/>
          <p:cNvSpPr txBox="1"/>
          <p:nvPr/>
        </p:nvSpPr>
        <p:spPr>
          <a:xfrm>
            <a:off x="6812280" y="2724912"/>
            <a:ext cx="1645920" cy="228600"/>
          </a:xfrm>
          <a:prstGeom prst="rect">
            <a:avLst/>
          </a:prstGeom>
          <a:noFill/>
          <a:ln/>
        </p:spPr>
        <p:txBody>
          <a:bodyPr wrap="square" lIns="0" tIns="0" rIns="0" bIns="0" rtlCol="0" anchor="ctr"/>
          <a:lstStyle/>
          <a:p>
            <a:pPr marL="0" indent="0" algn="r">
              <a:buNone/>
            </a:pPr>
            <a:r>
              <a:rPr lang="en-US" sz="1100" dirty="0">
                <a:solidFill>
                  <a:srgbClr val="5FD3B5"/>
                </a:solidFill>
                <a:latin typeface="Calibri" pitchFamily="34" charset="0"/>
                <a:ea typeface="Calibri" pitchFamily="34" charset="-122"/>
                <a:cs typeface="Calibri" pitchFamily="34" charset="-120"/>
              </a:rPr>
              <a:t>estable</a:t>
            </a:r>
            <a:endParaRPr lang="en-US" sz="1100" dirty="0"/>
          </a:p>
        </p:txBody>
      </p:sp>
      <p:sp>
        <p:nvSpPr>
          <p:cNvPr id="21" name="c2-4"/>
          <p:cNvSpPr/>
          <p:nvPr/>
        </p:nvSpPr>
        <p:spPr>
          <a:xfrm>
            <a:off x="4892040" y="3017520"/>
            <a:ext cx="3566160" cy="118872"/>
          </a:xfrm>
          <a:prstGeom prst="roundRect">
            <a:avLst>
              <a:gd name="adj" fmla="val 46154"/>
            </a:avLst>
          </a:prstGeom>
          <a:solidFill>
            <a:srgbClr val="2A5560"/>
          </a:solidFill>
          <a:ln/>
        </p:spPr>
      </p:sp>
      <p:sp>
        <p:nvSpPr>
          <p:cNvPr id="22" name="c2-5"/>
          <p:cNvSpPr/>
          <p:nvPr/>
        </p:nvSpPr>
        <p:spPr>
          <a:xfrm>
            <a:off x="4892040" y="3017520"/>
            <a:ext cx="2852928" cy="118872"/>
          </a:xfrm>
          <a:prstGeom prst="roundRect">
            <a:avLst>
              <a:gd name="adj" fmla="val 46154"/>
            </a:avLst>
          </a:prstGeom>
          <a:solidFill>
            <a:srgbClr val="5FD3B5"/>
          </a:solidFill>
          <a:ln/>
        </p:spPr>
      </p:sp>
      <p:pic>
        <p:nvPicPr>
          <p:cNvPr id="23" name="c3-1" descr="preencoded.png"/>
          <p:cNvPicPr>
            <a:picLocks noChangeAspect="1"/>
          </p:cNvPicPr>
          <p:nvPr/>
        </p:nvPicPr>
        <p:blipFill>
          <a:blip r:embed="rId5"/>
          <a:stretch>
            <a:fillRect/>
          </a:stretch>
        </p:blipFill>
        <p:spPr>
          <a:xfrm>
            <a:off x="4434840" y="3419856"/>
            <a:ext cx="292608" cy="292608"/>
          </a:xfrm>
          <a:prstGeom prst="rect">
            <a:avLst/>
          </a:prstGeom>
        </p:spPr>
      </p:pic>
      <p:sp>
        <p:nvSpPr>
          <p:cNvPr id="24" name="c3-2"/>
          <p:cNvSpPr txBox="1"/>
          <p:nvPr/>
        </p:nvSpPr>
        <p:spPr>
          <a:xfrm>
            <a:off x="4892040" y="3346704"/>
            <a:ext cx="192024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Trayectoria de la mano</a:t>
            </a:r>
            <a:endParaRPr lang="en-US" sz="1300" dirty="0"/>
          </a:p>
        </p:txBody>
      </p:sp>
      <p:sp>
        <p:nvSpPr>
          <p:cNvPr id="25" name="c3-3"/>
          <p:cNvSpPr txBox="1"/>
          <p:nvPr/>
        </p:nvSpPr>
        <p:spPr>
          <a:xfrm>
            <a:off x="6812280" y="3346704"/>
            <a:ext cx="1645920" cy="228600"/>
          </a:xfrm>
          <a:prstGeom prst="rect">
            <a:avLst/>
          </a:prstGeom>
          <a:noFill/>
          <a:ln/>
        </p:spPr>
        <p:txBody>
          <a:bodyPr wrap="square" lIns="0" tIns="0" rIns="0" bIns="0" rtlCol="0" anchor="ctr"/>
          <a:lstStyle/>
          <a:p>
            <a:pPr marL="0" indent="0" algn="r">
              <a:buNone/>
            </a:pPr>
            <a:r>
              <a:rPr lang="en-US" sz="1100" dirty="0">
                <a:solidFill>
                  <a:srgbClr val="FF6B5B"/>
                </a:solidFill>
                <a:latin typeface="Calibri" pitchFamily="34" charset="0"/>
                <a:ea typeface="Calibri" pitchFamily="34" charset="-122"/>
                <a:cs typeface="Calibri" pitchFamily="34" charset="-120"/>
              </a:rPr>
              <a:t>se desvía al final</a:t>
            </a:r>
            <a:endParaRPr lang="en-US" sz="1100" dirty="0"/>
          </a:p>
        </p:txBody>
      </p:sp>
      <p:sp>
        <p:nvSpPr>
          <p:cNvPr id="26" name="c3-4"/>
          <p:cNvSpPr/>
          <p:nvPr/>
        </p:nvSpPr>
        <p:spPr>
          <a:xfrm>
            <a:off x="4892040" y="3639312"/>
            <a:ext cx="3566160" cy="118872"/>
          </a:xfrm>
          <a:prstGeom prst="roundRect">
            <a:avLst>
              <a:gd name="adj" fmla="val 46154"/>
            </a:avLst>
          </a:prstGeom>
          <a:solidFill>
            <a:srgbClr val="2A5560"/>
          </a:solidFill>
          <a:ln/>
        </p:spPr>
      </p:sp>
      <p:sp>
        <p:nvSpPr>
          <p:cNvPr id="27" name="c3-5"/>
          <p:cNvSpPr/>
          <p:nvPr/>
        </p:nvSpPr>
        <p:spPr>
          <a:xfrm>
            <a:off x="4892040" y="3639312"/>
            <a:ext cx="1961388" cy="118872"/>
          </a:xfrm>
          <a:prstGeom prst="roundRect">
            <a:avLst>
              <a:gd name="adj" fmla="val 46154"/>
            </a:avLst>
          </a:prstGeom>
          <a:solidFill>
            <a:srgbClr val="FF6B5B"/>
          </a:solidFill>
          <a:ln/>
        </p:spPr>
      </p:sp>
      <p:pic>
        <p:nvPicPr>
          <p:cNvPr id="28" name="c4-1" descr="preencoded.png"/>
          <p:cNvPicPr>
            <a:picLocks noChangeAspect="1"/>
          </p:cNvPicPr>
          <p:nvPr/>
        </p:nvPicPr>
        <p:blipFill>
          <a:blip r:embed="rId6"/>
          <a:stretch>
            <a:fillRect/>
          </a:stretch>
        </p:blipFill>
        <p:spPr>
          <a:xfrm>
            <a:off x="4434840" y="4041648"/>
            <a:ext cx="292608" cy="292608"/>
          </a:xfrm>
          <a:prstGeom prst="rect">
            <a:avLst/>
          </a:prstGeom>
        </p:spPr>
      </p:pic>
      <p:sp>
        <p:nvSpPr>
          <p:cNvPr id="29" name="c4-2"/>
          <p:cNvSpPr txBox="1"/>
          <p:nvPr/>
        </p:nvSpPr>
        <p:spPr>
          <a:xfrm>
            <a:off x="4892040" y="3968496"/>
            <a:ext cx="192024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Velocidad</a:t>
            </a:r>
            <a:endParaRPr lang="en-US" sz="1300" dirty="0"/>
          </a:p>
        </p:txBody>
      </p:sp>
      <p:sp>
        <p:nvSpPr>
          <p:cNvPr id="30" name="c4-3"/>
          <p:cNvSpPr txBox="1"/>
          <p:nvPr/>
        </p:nvSpPr>
        <p:spPr>
          <a:xfrm>
            <a:off x="6812280" y="3968496"/>
            <a:ext cx="1645920" cy="228600"/>
          </a:xfrm>
          <a:prstGeom prst="rect">
            <a:avLst/>
          </a:prstGeom>
          <a:noFill/>
          <a:ln/>
        </p:spPr>
        <p:txBody>
          <a:bodyPr wrap="square" lIns="0" tIns="0" rIns="0" bIns="0" rtlCol="0" anchor="ctr"/>
          <a:lstStyle/>
          <a:p>
            <a:pPr marL="0" indent="0" algn="r">
              <a:buNone/>
            </a:pPr>
            <a:r>
              <a:rPr lang="en-US" sz="1100" dirty="0">
                <a:solidFill>
                  <a:srgbClr val="FF6B5B"/>
                </a:solidFill>
                <a:latin typeface="Calibri" pitchFamily="34" charset="0"/>
                <a:ea typeface="Calibri" pitchFamily="34" charset="-122"/>
                <a:cs typeface="Calibri" pitchFamily="34" charset="-120"/>
              </a:rPr>
              <a:t>cada vez más rápida</a:t>
            </a:r>
            <a:endParaRPr lang="en-US" sz="1100" dirty="0"/>
          </a:p>
        </p:txBody>
      </p:sp>
      <p:sp>
        <p:nvSpPr>
          <p:cNvPr id="31" name="c4-4"/>
          <p:cNvSpPr/>
          <p:nvPr/>
        </p:nvSpPr>
        <p:spPr>
          <a:xfrm>
            <a:off x="4892040" y="4261104"/>
            <a:ext cx="3566160" cy="118872"/>
          </a:xfrm>
          <a:prstGeom prst="roundRect">
            <a:avLst>
              <a:gd name="adj" fmla="val 46154"/>
            </a:avLst>
          </a:prstGeom>
          <a:solidFill>
            <a:srgbClr val="2A5560"/>
          </a:solidFill>
          <a:ln/>
        </p:spPr>
      </p:sp>
      <p:sp>
        <p:nvSpPr>
          <p:cNvPr id="32" name="c4-5"/>
          <p:cNvSpPr/>
          <p:nvPr/>
        </p:nvSpPr>
        <p:spPr>
          <a:xfrm>
            <a:off x="4892040" y="4261104"/>
            <a:ext cx="1604772" cy="118872"/>
          </a:xfrm>
          <a:prstGeom prst="roundRect">
            <a:avLst>
              <a:gd name="adj" fmla="val 46154"/>
            </a:avLst>
          </a:prstGeom>
          <a:solidFill>
            <a:srgbClr val="FF6B5B"/>
          </a:solidFill>
          <a:ln/>
        </p:spPr>
      </p:sp>
      <p:sp>
        <p:nvSpPr>
          <p:cNvPr id="33" name="Text 27"/>
          <p:cNvSpPr txBox="1"/>
          <p:nvPr/>
        </p:nvSpPr>
        <p:spPr>
          <a:xfrm>
            <a:off x="6675120" y="4434840"/>
            <a:ext cx="1828800" cy="182880"/>
          </a:xfrm>
          <a:prstGeom prst="rect">
            <a:avLst/>
          </a:prstGeom>
          <a:noFill/>
          <a:ln/>
        </p:spPr>
        <p:txBody>
          <a:bodyPr wrap="square" lIns="0" tIns="0" rIns="0" bIns="0" rtlCol="0" anchor="ctr"/>
          <a:lstStyle/>
          <a:p>
            <a:pPr marL="0" indent="0" algn="r">
              <a:buNone/>
            </a:pPr>
            <a:r>
              <a:rPr lang="en-US" sz="800" i="1" dirty="0">
                <a:solidFill>
                  <a:srgbClr val="8FB3AF"/>
                </a:solidFill>
                <a:latin typeface="Calibri" pitchFamily="34" charset="0"/>
                <a:ea typeface="Calibri" pitchFamily="34" charset="-122"/>
                <a:cs typeface="Calibri" pitchFamily="34" charset="-120"/>
              </a:rPr>
              <a:t>Valores ilustrativos</a:t>
            </a:r>
            <a:endParaRPr lang="en-US" sz="800" dirty="0"/>
          </a:p>
        </p:txBody>
      </p:sp>
      <p:sp>
        <p:nvSpPr>
          <p:cNvPr id="34" name="Text 28"/>
          <p:cNvSpPr txBox="1"/>
          <p:nvPr/>
        </p:nvSpPr>
        <p:spPr>
          <a:xfrm>
            <a:off x="457200" y="4818888"/>
            <a:ext cx="914400" cy="219456"/>
          </a:xfrm>
          <a:prstGeom prst="rect">
            <a:avLst/>
          </a:prstGeom>
          <a:noFill/>
          <a:ln/>
        </p:spPr>
        <p:txBody>
          <a:bodyPr wrap="square" lIns="0" tIns="0" rIns="0" bIns="0" rtlCol="0" anchor="ctr"/>
          <a:lstStyle/>
          <a:p>
            <a:pPr marL="0" indent="0">
              <a:buNone/>
            </a:pPr>
            <a:r>
              <a:rPr lang="en-US" sz="900" dirty="0">
                <a:solidFill>
                  <a:srgbClr val="5B7680"/>
                </a:solidFill>
                <a:latin typeface="Calibri" pitchFamily="34" charset="0"/>
                <a:ea typeface="Calibri" pitchFamily="34" charset="-122"/>
                <a:cs typeface="Calibri" pitchFamily="34" charset="-120"/>
              </a:rPr>
              <a:t>4 / 9</a:t>
            </a:r>
            <a:endParaRPr lang="en-US" sz="900" dirty="0"/>
          </a:p>
        </p:txBody>
      </p:sp>
      <p:sp>
        <p:nvSpPr>
          <p:cNvPr id="35" name="nav1">
            <a:hlinkClick r:id="rId7" action="ppaction://hlinksldjump"/>
          </p:cNvPr>
          <p:cNvSpPr/>
          <p:nvPr/>
        </p:nvSpPr>
        <p:spPr>
          <a:xfrm>
            <a:off x="4242816" y="4818888"/>
            <a:ext cx="731520"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Problema</a:t>
            </a:r>
            <a:endParaRPr lang="en-US" sz="900" dirty="0"/>
          </a:p>
        </p:txBody>
      </p:sp>
      <p:sp>
        <p:nvSpPr>
          <p:cNvPr id="36" name="nav3">
            <a:hlinkClick r:id="rId8" action="ppaction://hlinksldjump"/>
          </p:cNvPr>
          <p:cNvSpPr/>
          <p:nvPr/>
        </p:nvSpPr>
        <p:spPr>
          <a:xfrm>
            <a:off x="5029200" y="4818888"/>
            <a:ext cx="713232" cy="219456"/>
          </a:xfrm>
          <a:prstGeom prst="roundRect">
            <a:avLst>
              <a:gd name="adj" fmla="val 50000"/>
            </a:avLst>
          </a:prstGeom>
          <a:solidFill>
            <a:srgbClr val="5FD3B5"/>
          </a:solidFill>
          <a:ln/>
        </p:spPr>
        <p:txBody>
          <a:bodyPr wrap="square" lIns="0" tIns="0" rIns="0" bIns="0" rtlCol="0" anchor="ctr"/>
          <a:lstStyle/>
          <a:p>
            <a:pPr marL="0" indent="0" algn="ctr">
              <a:buNone/>
            </a:pPr>
            <a:r>
              <a:rPr lang="en-US" sz="900" b="1" dirty="0">
                <a:solidFill>
                  <a:srgbClr val="0B2B33"/>
                </a:solidFill>
                <a:latin typeface="Calibri" pitchFamily="34" charset="0"/>
                <a:ea typeface="Calibri" pitchFamily="34" charset="-122"/>
                <a:cs typeface="Calibri" pitchFamily="34" charset="-120"/>
              </a:rPr>
              <a:t>Solución</a:t>
            </a:r>
            <a:endParaRPr lang="en-US" sz="900" dirty="0"/>
          </a:p>
        </p:txBody>
      </p:sp>
      <p:sp>
        <p:nvSpPr>
          <p:cNvPr id="37" name="nav5">
            <a:hlinkClick r:id="rId9" action="ppaction://hlinksldjump"/>
          </p:cNvPr>
          <p:cNvSpPr/>
          <p:nvPr/>
        </p:nvSpPr>
        <p:spPr>
          <a:xfrm>
            <a:off x="5797296" y="4818888"/>
            <a:ext cx="1005840"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Cómo funciona</a:t>
            </a:r>
            <a:endParaRPr lang="en-US" sz="900" dirty="0"/>
          </a:p>
        </p:txBody>
      </p:sp>
      <p:sp>
        <p:nvSpPr>
          <p:cNvPr id="38" name="nav7">
            <a:hlinkClick r:id="rId10" action="ppaction://hlinksldjump"/>
          </p:cNvPr>
          <p:cNvSpPr/>
          <p:nvPr/>
        </p:nvSpPr>
        <p:spPr>
          <a:xfrm>
            <a:off x="6858000" y="4818888"/>
            <a:ext cx="457200"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MVP</a:t>
            </a:r>
            <a:endParaRPr lang="en-US" sz="900" dirty="0"/>
          </a:p>
        </p:txBody>
      </p:sp>
      <p:sp>
        <p:nvSpPr>
          <p:cNvPr id="39" name="nav8">
            <a:hlinkClick r:id="rId11" action="ppaction://hlinksldjump"/>
          </p:cNvPr>
          <p:cNvSpPr/>
          <p:nvPr/>
        </p:nvSpPr>
        <p:spPr>
          <a:xfrm>
            <a:off x="7370064" y="4818888"/>
            <a:ext cx="694944"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Negocio</a:t>
            </a:r>
            <a:endParaRPr lang="en-US" sz="900" dirty="0"/>
          </a:p>
        </p:txBody>
      </p:sp>
      <p:sp>
        <p:nvSpPr>
          <p:cNvPr id="40" name="nav9">
            <a:hlinkClick r:id="rId12" action="ppaction://hlinksldjump"/>
          </p:cNvPr>
          <p:cNvSpPr/>
          <p:nvPr/>
        </p:nvSpPr>
        <p:spPr>
          <a:xfrm>
            <a:off x="8119872" y="4818888"/>
            <a:ext cx="566928"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Cierre</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5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5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45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5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5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5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450"/>
                                        <p:tgtEl>
                                          <p:spTgt spid="2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45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50"/>
                                        <p:tgtEl>
                                          <p:spTgt spid="2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5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50"/>
                                        <p:tgtEl>
                                          <p:spTgt spid="3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5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B33"/>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572000" cy="274320"/>
          </a:xfrm>
          <a:prstGeom prst="rect">
            <a:avLst/>
          </a:prstGeom>
          <a:noFill/>
          <a:ln/>
        </p:spPr>
        <p:txBody>
          <a:bodyPr wrap="square" lIns="0" tIns="0" rIns="0" bIns="0" rtlCol="0" anchor="ctr"/>
          <a:lstStyle/>
          <a:p>
            <a:pPr marL="0" indent="0">
              <a:buNone/>
            </a:pPr>
            <a:r>
              <a:rPr lang="en-US" sz="1100" b="1" kern="0" spc="300" dirty="0">
                <a:solidFill>
                  <a:srgbClr val="5FD3B5"/>
                </a:solidFill>
                <a:latin typeface="Calibri" pitchFamily="34" charset="0"/>
                <a:ea typeface="Calibri" pitchFamily="34" charset="-122"/>
                <a:cs typeface="Calibri" pitchFamily="34" charset="-120"/>
              </a:rPr>
              <a:t>CÓMO FUNCIONA</a:t>
            </a:r>
            <a:endParaRPr lang="en-US" sz="11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Pipeline: del video al feedback</a:t>
            </a:r>
            <a:endParaRPr lang="en-US" sz="2800" dirty="0"/>
          </a:p>
        </p:txBody>
      </p:sp>
      <p:sp>
        <p:nvSpPr>
          <p:cNvPr id="4" name="c1-1"/>
          <p:cNvSpPr/>
          <p:nvPr/>
        </p:nvSpPr>
        <p:spPr>
          <a:xfrm>
            <a:off x="457200" y="1371600"/>
            <a:ext cx="1463040" cy="2468880"/>
          </a:xfrm>
          <a:prstGeom prst="roundRect">
            <a:avLst>
              <a:gd name="adj" fmla="val 7500"/>
            </a:avLst>
          </a:prstGeom>
          <a:solidFill>
            <a:srgbClr val="133E47"/>
          </a:solidFill>
          <a:ln/>
        </p:spPr>
      </p:sp>
      <p:sp>
        <p:nvSpPr>
          <p:cNvPr id="5" name="c1-2"/>
          <p:cNvSpPr/>
          <p:nvPr/>
        </p:nvSpPr>
        <p:spPr>
          <a:xfrm>
            <a:off x="914400" y="1554480"/>
            <a:ext cx="548640" cy="548640"/>
          </a:xfrm>
          <a:prstGeom prst="ellipse">
            <a:avLst/>
          </a:prstGeom>
          <a:solidFill>
            <a:srgbClr val="5FD3B5"/>
          </a:solidFill>
          <a:ln/>
        </p:spPr>
      </p:sp>
      <p:pic>
        <p:nvPicPr>
          <p:cNvPr id="6" name="c1-3" descr="preencoded.png"/>
          <p:cNvPicPr>
            <a:picLocks noChangeAspect="1"/>
          </p:cNvPicPr>
          <p:nvPr/>
        </p:nvPicPr>
        <p:blipFill>
          <a:blip r:embed="rId3"/>
          <a:stretch>
            <a:fillRect/>
          </a:stretch>
        </p:blipFill>
        <p:spPr>
          <a:xfrm>
            <a:off x="1051560" y="1691640"/>
            <a:ext cx="274320" cy="274320"/>
          </a:xfrm>
          <a:prstGeom prst="rect">
            <a:avLst/>
          </a:prstGeom>
        </p:spPr>
      </p:pic>
      <p:sp>
        <p:nvSpPr>
          <p:cNvPr id="7" name="c1-4"/>
          <p:cNvSpPr txBox="1"/>
          <p:nvPr/>
        </p:nvSpPr>
        <p:spPr>
          <a:xfrm>
            <a:off x="566928" y="2240280"/>
            <a:ext cx="1243584" cy="1508760"/>
          </a:xfrm>
          <a:prstGeom prst="rect">
            <a:avLst/>
          </a:prstGeom>
          <a:noFill/>
          <a:ln/>
        </p:spPr>
        <p:txBody>
          <a:bodyPr wrap="square" lIns="0" tIns="0" rIns="0" bIns="0" rtlCol="0" anchor="t"/>
          <a:lstStyle/>
          <a:p>
            <a:pPr marL="0" indent="0" algn="ctr">
              <a:spcAft>
                <a:spcPts val="300"/>
              </a:spcAft>
              <a:buNone/>
            </a:pPr>
            <a:r>
              <a:rPr lang="en-US" sz="1000" b="1" dirty="0">
                <a:solidFill>
                  <a:srgbClr val="5FD3B5"/>
                </a:solidFill>
                <a:latin typeface="Calibri" pitchFamily="34" charset="0"/>
                <a:ea typeface="Calibri" pitchFamily="34" charset="-122"/>
                <a:cs typeface="Calibri" pitchFamily="34" charset="-120"/>
              </a:rPr>
              <a:t>1</a:t>
            </a:r>
            <a:endParaRPr lang="en-US" sz="1000" dirty="0"/>
          </a:p>
          <a:p>
            <a:pPr marL="0" indent="0" algn="ctr">
              <a:spcAft>
                <a:spcPts val="300"/>
              </a:spcAft>
              <a:buNone/>
            </a:pPr>
            <a:r>
              <a:rPr lang="en-US" sz="1400" b="1" dirty="0">
                <a:solidFill>
                  <a:srgbClr val="FFFFFF"/>
                </a:solidFill>
                <a:latin typeface="Arial" pitchFamily="34" charset="0"/>
                <a:ea typeface="Arial" pitchFamily="34" charset="-122"/>
                <a:cs typeface="Arial" pitchFamily="34" charset="-120"/>
              </a:rPr>
              <a:t>Captura</a:t>
            </a:r>
            <a:endParaRPr lang="en-US" sz="1000" dirty="0"/>
          </a:p>
          <a:p>
            <a:pPr marL="0" indent="0" algn="ctr">
              <a:spcAft>
                <a:spcPts val="300"/>
              </a:spcAft>
              <a:buNone/>
            </a:pPr>
            <a:r>
              <a:rPr lang="en-US" sz="1100" dirty="0">
                <a:solidFill>
                  <a:srgbClr val="CFE3E0"/>
                </a:solidFill>
                <a:latin typeface="Calibri" pitchFamily="34" charset="0"/>
                <a:ea typeface="Calibri" pitchFamily="34" charset="-122"/>
                <a:cs typeface="Calibri" pitchFamily="34" charset="-120"/>
              </a:rPr>
              <a:t>Video de la cámara del celular o laptop</a:t>
            </a:r>
            <a:endParaRPr lang="en-US" sz="1000" dirty="0"/>
          </a:p>
        </p:txBody>
      </p:sp>
      <p:sp>
        <p:nvSpPr>
          <p:cNvPr id="8" name="c1-5"/>
          <p:cNvSpPr txBox="1"/>
          <p:nvPr/>
        </p:nvSpPr>
        <p:spPr>
          <a:xfrm>
            <a:off x="1920240" y="2331720"/>
            <a:ext cx="219456" cy="457200"/>
          </a:xfrm>
          <a:prstGeom prst="rect">
            <a:avLst/>
          </a:prstGeom>
          <a:noFill/>
          <a:ln/>
        </p:spPr>
        <p:txBody>
          <a:bodyPr wrap="square" lIns="0" tIns="0" rIns="0" bIns="0" rtlCol="0" anchor="ctr"/>
          <a:lstStyle/>
          <a:p>
            <a:pPr marL="0" indent="0" algn="ctr">
              <a:buNone/>
            </a:pPr>
            <a:r>
              <a:rPr lang="en-US" sz="2600" b="1" dirty="0">
                <a:solidFill>
                  <a:srgbClr val="5FD3B5"/>
                </a:solidFill>
                <a:latin typeface="Arial" pitchFamily="34" charset="0"/>
                <a:ea typeface="Arial" pitchFamily="34" charset="-122"/>
                <a:cs typeface="Arial" pitchFamily="34" charset="-120"/>
              </a:rPr>
              <a:t>›</a:t>
            </a:r>
            <a:endParaRPr lang="en-US" sz="2600" dirty="0"/>
          </a:p>
        </p:txBody>
      </p:sp>
      <p:sp>
        <p:nvSpPr>
          <p:cNvPr id="9" name="c2-1"/>
          <p:cNvSpPr/>
          <p:nvPr/>
        </p:nvSpPr>
        <p:spPr>
          <a:xfrm>
            <a:off x="2139696" y="1371600"/>
            <a:ext cx="1463040" cy="2468880"/>
          </a:xfrm>
          <a:prstGeom prst="roundRect">
            <a:avLst>
              <a:gd name="adj" fmla="val 7500"/>
            </a:avLst>
          </a:prstGeom>
          <a:solidFill>
            <a:srgbClr val="133E47"/>
          </a:solidFill>
          <a:ln/>
        </p:spPr>
      </p:sp>
      <p:sp>
        <p:nvSpPr>
          <p:cNvPr id="10" name="c2-2"/>
          <p:cNvSpPr/>
          <p:nvPr/>
        </p:nvSpPr>
        <p:spPr>
          <a:xfrm>
            <a:off x="2596896" y="1554480"/>
            <a:ext cx="548640" cy="548640"/>
          </a:xfrm>
          <a:prstGeom prst="ellipse">
            <a:avLst/>
          </a:prstGeom>
          <a:solidFill>
            <a:srgbClr val="5FD3B5"/>
          </a:solidFill>
          <a:ln/>
        </p:spPr>
      </p:sp>
      <p:pic>
        <p:nvPicPr>
          <p:cNvPr id="11" name="c2-3" descr="preencoded.png"/>
          <p:cNvPicPr>
            <a:picLocks noChangeAspect="1"/>
          </p:cNvPicPr>
          <p:nvPr/>
        </p:nvPicPr>
        <p:blipFill>
          <a:blip r:embed="rId4"/>
          <a:stretch>
            <a:fillRect/>
          </a:stretch>
        </p:blipFill>
        <p:spPr>
          <a:xfrm>
            <a:off x="2734056" y="1691640"/>
            <a:ext cx="274320" cy="274320"/>
          </a:xfrm>
          <a:prstGeom prst="rect">
            <a:avLst/>
          </a:prstGeom>
        </p:spPr>
      </p:pic>
      <p:sp>
        <p:nvSpPr>
          <p:cNvPr id="12" name="c2-4"/>
          <p:cNvSpPr txBox="1"/>
          <p:nvPr/>
        </p:nvSpPr>
        <p:spPr>
          <a:xfrm>
            <a:off x="2249424" y="2240280"/>
            <a:ext cx="1243584" cy="1508760"/>
          </a:xfrm>
          <a:prstGeom prst="rect">
            <a:avLst/>
          </a:prstGeom>
          <a:noFill/>
          <a:ln/>
        </p:spPr>
        <p:txBody>
          <a:bodyPr wrap="square" lIns="0" tIns="0" rIns="0" bIns="0" rtlCol="0" anchor="t"/>
          <a:lstStyle/>
          <a:p>
            <a:pPr marL="0" indent="0" algn="ctr">
              <a:spcAft>
                <a:spcPts val="300"/>
              </a:spcAft>
              <a:buNone/>
            </a:pPr>
            <a:r>
              <a:rPr lang="en-US" sz="1000" b="1" dirty="0">
                <a:solidFill>
                  <a:srgbClr val="5FD3B5"/>
                </a:solidFill>
                <a:latin typeface="Calibri" pitchFamily="34" charset="0"/>
                <a:ea typeface="Calibri" pitchFamily="34" charset="-122"/>
                <a:cs typeface="Calibri" pitchFamily="34" charset="-120"/>
              </a:rPr>
              <a:t>2</a:t>
            </a:r>
            <a:endParaRPr lang="en-US" sz="1000" dirty="0"/>
          </a:p>
          <a:p>
            <a:pPr marL="0" indent="0" algn="ctr">
              <a:spcAft>
                <a:spcPts val="300"/>
              </a:spcAft>
              <a:buNone/>
            </a:pPr>
            <a:r>
              <a:rPr lang="en-US" sz="1400" b="1" dirty="0">
                <a:solidFill>
                  <a:srgbClr val="FFFFFF"/>
                </a:solidFill>
                <a:latin typeface="Arial" pitchFamily="34" charset="0"/>
                <a:ea typeface="Arial" pitchFamily="34" charset="-122"/>
                <a:cs typeface="Arial" pitchFamily="34" charset="-120"/>
              </a:rPr>
              <a:t>Keypoints</a:t>
            </a:r>
            <a:endParaRPr lang="en-US" sz="1000" dirty="0"/>
          </a:p>
          <a:p>
            <a:pPr marL="0" indent="0" algn="ctr">
              <a:spcAft>
                <a:spcPts val="300"/>
              </a:spcAft>
              <a:buNone/>
            </a:pPr>
            <a:r>
              <a:rPr lang="en-US" sz="1100" dirty="0">
                <a:solidFill>
                  <a:srgbClr val="CFE3E0"/>
                </a:solidFill>
                <a:latin typeface="Calibri" pitchFamily="34" charset="0"/>
                <a:ea typeface="Calibri" pitchFamily="34" charset="-122"/>
                <a:cs typeface="Calibri" pitchFamily="34" charset="-120"/>
              </a:rPr>
              <a:t>MediaPipe detecta las articulaciones</a:t>
            </a:r>
            <a:endParaRPr lang="en-US" sz="1000" dirty="0"/>
          </a:p>
        </p:txBody>
      </p:sp>
      <p:sp>
        <p:nvSpPr>
          <p:cNvPr id="13" name="c2-5"/>
          <p:cNvSpPr txBox="1"/>
          <p:nvPr/>
        </p:nvSpPr>
        <p:spPr>
          <a:xfrm>
            <a:off x="3602736" y="2331720"/>
            <a:ext cx="219456" cy="457200"/>
          </a:xfrm>
          <a:prstGeom prst="rect">
            <a:avLst/>
          </a:prstGeom>
          <a:noFill/>
          <a:ln/>
        </p:spPr>
        <p:txBody>
          <a:bodyPr wrap="square" lIns="0" tIns="0" rIns="0" bIns="0" rtlCol="0" anchor="ctr"/>
          <a:lstStyle/>
          <a:p>
            <a:pPr marL="0" indent="0" algn="ctr">
              <a:buNone/>
            </a:pPr>
            <a:r>
              <a:rPr lang="en-US" sz="2600" b="1" dirty="0">
                <a:solidFill>
                  <a:srgbClr val="5FD3B5"/>
                </a:solidFill>
                <a:latin typeface="Arial" pitchFamily="34" charset="0"/>
                <a:ea typeface="Arial" pitchFamily="34" charset="-122"/>
                <a:cs typeface="Arial" pitchFamily="34" charset="-120"/>
              </a:rPr>
              <a:t>›</a:t>
            </a:r>
            <a:endParaRPr lang="en-US" sz="2600" dirty="0"/>
          </a:p>
        </p:txBody>
      </p:sp>
      <p:sp>
        <p:nvSpPr>
          <p:cNvPr id="14" name="c3-1"/>
          <p:cNvSpPr/>
          <p:nvPr/>
        </p:nvSpPr>
        <p:spPr>
          <a:xfrm>
            <a:off x="3822192" y="1371600"/>
            <a:ext cx="1463040" cy="2468880"/>
          </a:xfrm>
          <a:prstGeom prst="roundRect">
            <a:avLst>
              <a:gd name="adj" fmla="val 7500"/>
            </a:avLst>
          </a:prstGeom>
          <a:solidFill>
            <a:srgbClr val="133E47"/>
          </a:solidFill>
          <a:ln/>
        </p:spPr>
      </p:sp>
      <p:sp>
        <p:nvSpPr>
          <p:cNvPr id="15" name="c3-2"/>
          <p:cNvSpPr/>
          <p:nvPr/>
        </p:nvSpPr>
        <p:spPr>
          <a:xfrm>
            <a:off x="4279392" y="1554480"/>
            <a:ext cx="548640" cy="548640"/>
          </a:xfrm>
          <a:prstGeom prst="ellipse">
            <a:avLst/>
          </a:prstGeom>
          <a:solidFill>
            <a:srgbClr val="5FD3B5"/>
          </a:solidFill>
          <a:ln/>
        </p:spPr>
      </p:sp>
      <p:pic>
        <p:nvPicPr>
          <p:cNvPr id="16" name="c3-3" descr="preencoded.png"/>
          <p:cNvPicPr>
            <a:picLocks noChangeAspect="1"/>
          </p:cNvPicPr>
          <p:nvPr/>
        </p:nvPicPr>
        <p:blipFill>
          <a:blip r:embed="rId5"/>
          <a:stretch>
            <a:fillRect/>
          </a:stretch>
        </p:blipFill>
        <p:spPr>
          <a:xfrm>
            <a:off x="4416552" y="1691640"/>
            <a:ext cx="274320" cy="274320"/>
          </a:xfrm>
          <a:prstGeom prst="rect">
            <a:avLst/>
          </a:prstGeom>
        </p:spPr>
      </p:pic>
      <p:sp>
        <p:nvSpPr>
          <p:cNvPr id="17" name="c3-4"/>
          <p:cNvSpPr txBox="1"/>
          <p:nvPr/>
        </p:nvSpPr>
        <p:spPr>
          <a:xfrm>
            <a:off x="3931920" y="2240280"/>
            <a:ext cx="1243584" cy="1508760"/>
          </a:xfrm>
          <a:prstGeom prst="rect">
            <a:avLst/>
          </a:prstGeom>
          <a:noFill/>
          <a:ln/>
        </p:spPr>
        <p:txBody>
          <a:bodyPr wrap="square" lIns="0" tIns="0" rIns="0" bIns="0" rtlCol="0" anchor="t"/>
          <a:lstStyle/>
          <a:p>
            <a:pPr marL="0" indent="0" algn="ctr">
              <a:spcAft>
                <a:spcPts val="300"/>
              </a:spcAft>
              <a:buNone/>
            </a:pPr>
            <a:r>
              <a:rPr lang="en-US" sz="1000" b="1" dirty="0">
                <a:solidFill>
                  <a:srgbClr val="5FD3B5"/>
                </a:solidFill>
                <a:latin typeface="Calibri" pitchFamily="34" charset="0"/>
                <a:ea typeface="Calibri" pitchFamily="34" charset="-122"/>
                <a:cs typeface="Calibri" pitchFamily="34" charset="-120"/>
              </a:rPr>
              <a:t>3</a:t>
            </a:r>
            <a:endParaRPr lang="en-US" sz="1000" dirty="0"/>
          </a:p>
          <a:p>
            <a:pPr marL="0" indent="0" algn="ctr">
              <a:spcAft>
                <a:spcPts val="300"/>
              </a:spcAft>
              <a:buNone/>
            </a:pPr>
            <a:r>
              <a:rPr lang="en-US" sz="1400" b="1" dirty="0">
                <a:solidFill>
                  <a:srgbClr val="FFFFFF"/>
                </a:solidFill>
                <a:latin typeface="Arial" pitchFamily="34" charset="0"/>
                <a:ea typeface="Arial" pitchFamily="34" charset="-122"/>
                <a:cs typeface="Arial" pitchFamily="34" charset="-120"/>
              </a:rPr>
              <a:t>Normalización</a:t>
            </a:r>
            <a:endParaRPr lang="en-US" sz="1000" dirty="0"/>
          </a:p>
          <a:p>
            <a:pPr marL="0" indent="0" algn="ctr">
              <a:spcAft>
                <a:spcPts val="300"/>
              </a:spcAft>
              <a:buNone/>
            </a:pPr>
            <a:r>
              <a:rPr lang="en-US" sz="1100" dirty="0">
                <a:solidFill>
                  <a:srgbClr val="CFE3E0"/>
                </a:solidFill>
                <a:latin typeface="Calibri" pitchFamily="34" charset="0"/>
                <a:ea typeface="Calibri" pitchFamily="34" charset="-122"/>
                <a:cs typeface="Calibri" pitchFamily="34" charset="-120"/>
              </a:rPr>
              <a:t>Ángulos y escala: independiente de altura y distancia</a:t>
            </a:r>
            <a:endParaRPr lang="en-US" sz="1000" dirty="0"/>
          </a:p>
        </p:txBody>
      </p:sp>
      <p:sp>
        <p:nvSpPr>
          <p:cNvPr id="18" name="c3-5"/>
          <p:cNvSpPr txBox="1"/>
          <p:nvPr/>
        </p:nvSpPr>
        <p:spPr>
          <a:xfrm>
            <a:off x="5285232" y="2331720"/>
            <a:ext cx="219456" cy="457200"/>
          </a:xfrm>
          <a:prstGeom prst="rect">
            <a:avLst/>
          </a:prstGeom>
          <a:noFill/>
          <a:ln/>
        </p:spPr>
        <p:txBody>
          <a:bodyPr wrap="square" lIns="0" tIns="0" rIns="0" bIns="0" rtlCol="0" anchor="ctr"/>
          <a:lstStyle/>
          <a:p>
            <a:pPr marL="0" indent="0" algn="ctr">
              <a:buNone/>
            </a:pPr>
            <a:r>
              <a:rPr lang="en-US" sz="2600" b="1" dirty="0">
                <a:solidFill>
                  <a:srgbClr val="5FD3B5"/>
                </a:solidFill>
                <a:latin typeface="Arial" pitchFamily="34" charset="0"/>
                <a:ea typeface="Arial" pitchFamily="34" charset="-122"/>
                <a:cs typeface="Arial" pitchFamily="34" charset="-120"/>
              </a:rPr>
              <a:t>›</a:t>
            </a:r>
            <a:endParaRPr lang="en-US" sz="2600" dirty="0"/>
          </a:p>
        </p:txBody>
      </p:sp>
      <p:sp>
        <p:nvSpPr>
          <p:cNvPr id="19" name="c4-1"/>
          <p:cNvSpPr/>
          <p:nvPr/>
        </p:nvSpPr>
        <p:spPr>
          <a:xfrm>
            <a:off x="5504688" y="1371600"/>
            <a:ext cx="1463040" cy="2468880"/>
          </a:xfrm>
          <a:prstGeom prst="roundRect">
            <a:avLst>
              <a:gd name="adj" fmla="val 7500"/>
            </a:avLst>
          </a:prstGeom>
          <a:solidFill>
            <a:srgbClr val="133E47"/>
          </a:solidFill>
          <a:ln/>
        </p:spPr>
      </p:sp>
      <p:sp>
        <p:nvSpPr>
          <p:cNvPr id="20" name="c4-2"/>
          <p:cNvSpPr/>
          <p:nvPr/>
        </p:nvSpPr>
        <p:spPr>
          <a:xfrm>
            <a:off x="5961888" y="1554480"/>
            <a:ext cx="548640" cy="548640"/>
          </a:xfrm>
          <a:prstGeom prst="ellipse">
            <a:avLst/>
          </a:prstGeom>
          <a:solidFill>
            <a:srgbClr val="5FD3B5"/>
          </a:solidFill>
          <a:ln/>
        </p:spPr>
      </p:sp>
      <p:pic>
        <p:nvPicPr>
          <p:cNvPr id="21" name="c4-3" descr="preencoded.png"/>
          <p:cNvPicPr>
            <a:picLocks noChangeAspect="1"/>
          </p:cNvPicPr>
          <p:nvPr/>
        </p:nvPicPr>
        <p:blipFill>
          <a:blip r:embed="rId6"/>
          <a:stretch>
            <a:fillRect/>
          </a:stretch>
        </p:blipFill>
        <p:spPr>
          <a:xfrm>
            <a:off x="6099048" y="1691640"/>
            <a:ext cx="274320" cy="274320"/>
          </a:xfrm>
          <a:prstGeom prst="rect">
            <a:avLst/>
          </a:prstGeom>
        </p:spPr>
      </p:pic>
      <p:sp>
        <p:nvSpPr>
          <p:cNvPr id="22" name="c4-4"/>
          <p:cNvSpPr txBox="1"/>
          <p:nvPr/>
        </p:nvSpPr>
        <p:spPr>
          <a:xfrm>
            <a:off x="5614416" y="2240280"/>
            <a:ext cx="1243584" cy="1508760"/>
          </a:xfrm>
          <a:prstGeom prst="rect">
            <a:avLst/>
          </a:prstGeom>
          <a:noFill/>
          <a:ln/>
        </p:spPr>
        <p:txBody>
          <a:bodyPr wrap="square" lIns="0" tIns="0" rIns="0" bIns="0" rtlCol="0" anchor="t"/>
          <a:lstStyle/>
          <a:p>
            <a:pPr marL="0" indent="0" algn="ctr">
              <a:spcAft>
                <a:spcPts val="300"/>
              </a:spcAft>
              <a:buNone/>
            </a:pPr>
            <a:r>
              <a:rPr lang="en-US" sz="1000" b="1" dirty="0">
                <a:solidFill>
                  <a:srgbClr val="5FD3B5"/>
                </a:solidFill>
                <a:latin typeface="Calibri" pitchFamily="34" charset="0"/>
                <a:ea typeface="Calibri" pitchFamily="34" charset="-122"/>
                <a:cs typeface="Calibri" pitchFamily="34" charset="-120"/>
              </a:rPr>
              <a:t>4</a:t>
            </a:r>
            <a:endParaRPr lang="en-US" sz="1000" dirty="0"/>
          </a:p>
          <a:p>
            <a:pPr marL="0" indent="0" algn="ctr">
              <a:spcAft>
                <a:spcPts val="300"/>
              </a:spcAft>
              <a:buNone/>
            </a:pPr>
            <a:r>
              <a:rPr lang="en-US" sz="1400" b="1" dirty="0">
                <a:solidFill>
                  <a:srgbClr val="FFFFFF"/>
                </a:solidFill>
                <a:latin typeface="Arial" pitchFamily="34" charset="0"/>
                <a:ea typeface="Arial" pitchFamily="34" charset="-122"/>
                <a:cs typeface="Arial" pitchFamily="34" charset="-120"/>
              </a:rPr>
              <a:t>Análisis temporal</a:t>
            </a:r>
            <a:endParaRPr lang="en-US" sz="1000" dirty="0"/>
          </a:p>
          <a:p>
            <a:pPr marL="0" indent="0" algn="ctr">
              <a:spcAft>
                <a:spcPts val="300"/>
              </a:spcAft>
              <a:buNone/>
            </a:pPr>
            <a:r>
              <a:rPr lang="en-US" sz="1100" dirty="0">
                <a:solidFill>
                  <a:srgbClr val="CFE3E0"/>
                </a:solidFill>
                <a:latin typeface="Calibri" pitchFamily="34" charset="0"/>
                <a:ea typeface="Calibri" pitchFamily="34" charset="-122"/>
                <a:cs typeface="Calibri" pitchFamily="34" charset="-120"/>
              </a:rPr>
              <a:t>DTW compara la trayectoria con el patrón</a:t>
            </a:r>
            <a:endParaRPr lang="en-US" sz="1000" dirty="0"/>
          </a:p>
        </p:txBody>
      </p:sp>
      <p:sp>
        <p:nvSpPr>
          <p:cNvPr id="23" name="c4-5"/>
          <p:cNvSpPr txBox="1"/>
          <p:nvPr/>
        </p:nvSpPr>
        <p:spPr>
          <a:xfrm>
            <a:off x="6967728" y="2331720"/>
            <a:ext cx="219456" cy="457200"/>
          </a:xfrm>
          <a:prstGeom prst="rect">
            <a:avLst/>
          </a:prstGeom>
          <a:noFill/>
          <a:ln/>
        </p:spPr>
        <p:txBody>
          <a:bodyPr wrap="square" lIns="0" tIns="0" rIns="0" bIns="0" rtlCol="0" anchor="ctr"/>
          <a:lstStyle/>
          <a:p>
            <a:pPr marL="0" indent="0" algn="ctr">
              <a:buNone/>
            </a:pPr>
            <a:r>
              <a:rPr lang="en-US" sz="2600" b="1" dirty="0">
                <a:solidFill>
                  <a:srgbClr val="5FD3B5"/>
                </a:solidFill>
                <a:latin typeface="Arial" pitchFamily="34" charset="0"/>
                <a:ea typeface="Arial" pitchFamily="34" charset="-122"/>
                <a:cs typeface="Arial" pitchFamily="34" charset="-120"/>
              </a:rPr>
              <a:t>›</a:t>
            </a:r>
            <a:endParaRPr lang="en-US" sz="2600" dirty="0"/>
          </a:p>
        </p:txBody>
      </p:sp>
      <p:sp>
        <p:nvSpPr>
          <p:cNvPr id="24" name="c5-1"/>
          <p:cNvSpPr/>
          <p:nvPr/>
        </p:nvSpPr>
        <p:spPr>
          <a:xfrm>
            <a:off x="7187184" y="1371600"/>
            <a:ext cx="1463040" cy="2468880"/>
          </a:xfrm>
          <a:prstGeom prst="roundRect">
            <a:avLst>
              <a:gd name="adj" fmla="val 7500"/>
            </a:avLst>
          </a:prstGeom>
          <a:solidFill>
            <a:srgbClr val="FF6B5B"/>
          </a:solidFill>
          <a:ln/>
        </p:spPr>
      </p:sp>
      <p:sp>
        <p:nvSpPr>
          <p:cNvPr id="25" name="c5-2"/>
          <p:cNvSpPr/>
          <p:nvPr/>
        </p:nvSpPr>
        <p:spPr>
          <a:xfrm>
            <a:off x="7644384" y="1554480"/>
            <a:ext cx="548640" cy="548640"/>
          </a:xfrm>
          <a:prstGeom prst="ellipse">
            <a:avLst/>
          </a:prstGeom>
          <a:solidFill>
            <a:srgbClr val="FFFFFF"/>
          </a:solidFill>
          <a:ln/>
        </p:spPr>
      </p:sp>
      <p:pic>
        <p:nvPicPr>
          <p:cNvPr id="26" name="c5-3" descr="preencoded.png"/>
          <p:cNvPicPr>
            <a:picLocks noChangeAspect="1"/>
          </p:cNvPicPr>
          <p:nvPr/>
        </p:nvPicPr>
        <p:blipFill>
          <a:blip r:embed="rId7"/>
          <a:stretch>
            <a:fillRect/>
          </a:stretch>
        </p:blipFill>
        <p:spPr>
          <a:xfrm>
            <a:off x="7781544" y="1691640"/>
            <a:ext cx="274320" cy="274320"/>
          </a:xfrm>
          <a:prstGeom prst="rect">
            <a:avLst/>
          </a:prstGeom>
        </p:spPr>
      </p:pic>
      <p:sp>
        <p:nvSpPr>
          <p:cNvPr id="27" name="c5-4"/>
          <p:cNvSpPr txBox="1"/>
          <p:nvPr/>
        </p:nvSpPr>
        <p:spPr>
          <a:xfrm>
            <a:off x="7296912" y="2240280"/>
            <a:ext cx="1243584" cy="1508760"/>
          </a:xfrm>
          <a:prstGeom prst="rect">
            <a:avLst/>
          </a:prstGeom>
          <a:noFill/>
          <a:ln/>
        </p:spPr>
        <p:txBody>
          <a:bodyPr wrap="square" lIns="0" tIns="0" rIns="0" bIns="0" rtlCol="0" anchor="t"/>
          <a:lstStyle/>
          <a:p>
            <a:pPr marL="0" indent="0" algn="ctr">
              <a:spcAft>
                <a:spcPts val="300"/>
              </a:spcAft>
              <a:buNone/>
            </a:pPr>
            <a:r>
              <a:rPr lang="en-US" sz="1000" b="1" dirty="0">
                <a:solidFill>
                  <a:srgbClr val="FFFFFF"/>
                </a:solidFill>
                <a:latin typeface="Calibri" pitchFamily="34" charset="0"/>
                <a:ea typeface="Calibri" pitchFamily="34" charset="-122"/>
                <a:cs typeface="Calibri" pitchFamily="34" charset="-120"/>
              </a:rPr>
              <a:t>5</a:t>
            </a:r>
            <a:endParaRPr lang="en-US" sz="1000" dirty="0"/>
          </a:p>
          <a:p>
            <a:pPr marL="0" indent="0" algn="ctr">
              <a:spcAft>
                <a:spcPts val="300"/>
              </a:spcAft>
              <a:buNone/>
            </a:pPr>
            <a:r>
              <a:rPr lang="en-US" sz="1400" b="1" dirty="0">
                <a:solidFill>
                  <a:srgbClr val="FFFFFF"/>
                </a:solidFill>
                <a:latin typeface="Arial" pitchFamily="34" charset="0"/>
                <a:ea typeface="Arial" pitchFamily="34" charset="-122"/>
                <a:cs typeface="Arial" pitchFamily="34" charset="-120"/>
              </a:rPr>
              <a:t>Feedback</a:t>
            </a:r>
            <a:endParaRPr lang="en-US" sz="1000" dirty="0"/>
          </a:p>
          <a:p>
            <a:pPr marL="0" indent="0" algn="ctr">
              <a:spcAft>
                <a:spcPts val="300"/>
              </a:spcAft>
              <a:buNone/>
            </a:pPr>
            <a:r>
              <a:rPr lang="en-US" sz="1100" dirty="0">
                <a:solidFill>
                  <a:srgbClr val="FFFFFF"/>
                </a:solidFill>
                <a:latin typeface="Calibri" pitchFamily="34" charset="0"/>
                <a:ea typeface="Calibri" pitchFamily="34" charset="-122"/>
                <a:cs typeface="Calibri" pitchFamily="34" charset="-120"/>
              </a:rPr>
              <a:t>% de parecido y alertas en vivo</a:t>
            </a:r>
            <a:endParaRPr lang="en-US" sz="1000" dirty="0"/>
          </a:p>
        </p:txBody>
      </p:sp>
      <p:sp>
        <p:nvSpPr>
          <p:cNvPr id="28" name="c6-1"/>
          <p:cNvSpPr/>
          <p:nvPr/>
        </p:nvSpPr>
        <p:spPr>
          <a:xfrm>
            <a:off x="457200" y="4069080"/>
            <a:ext cx="8229600" cy="548640"/>
          </a:xfrm>
          <a:prstGeom prst="roundRect">
            <a:avLst>
              <a:gd name="adj" fmla="val 20000"/>
            </a:avLst>
          </a:prstGeom>
          <a:solidFill>
            <a:srgbClr val="133E47"/>
          </a:solidFill>
          <a:ln/>
        </p:spPr>
        <p:txBody>
          <a:bodyPr wrap="square" lIns="177800" tIns="177800" rIns="177800" bIns="177800" rtlCol="0" anchor="ctr"/>
          <a:lstStyle/>
          <a:p>
            <a:pPr marL="0" indent="0">
              <a:buNone/>
            </a:pPr>
            <a:r>
              <a:rPr lang="en-US" sz="1500" b="1" dirty="0">
                <a:solidFill>
                  <a:srgbClr val="5FD3B5"/>
                </a:solidFill>
                <a:latin typeface="Calibri" pitchFamily="34" charset="0"/>
                <a:ea typeface="Calibri" pitchFamily="34" charset="-122"/>
                <a:cs typeface="Calibri" pitchFamily="34" charset="-120"/>
              </a:rPr>
              <a:t>Clave: </a:t>
            </a:r>
            <a:r>
              <a:rPr lang="en-US" sz="1500" dirty="0">
                <a:solidFill>
                  <a:srgbClr val="FFFFFF"/>
                </a:solidFill>
                <a:latin typeface="Calibri" pitchFamily="34" charset="0"/>
                <a:ea typeface="Calibri" pitchFamily="34" charset="-122"/>
                <a:cs typeface="Calibri" pitchFamily="34" charset="-120"/>
              </a:rPr>
              <a:t>comparamos trayectorias en el tiempo, no imágenes sueltas.</a:t>
            </a:r>
            <a:endParaRPr lang="en-US" sz="1500" dirty="0"/>
          </a:p>
        </p:txBody>
      </p:sp>
      <p:sp>
        <p:nvSpPr>
          <p:cNvPr id="29" name="Text 22"/>
          <p:cNvSpPr txBox="1"/>
          <p:nvPr/>
        </p:nvSpPr>
        <p:spPr>
          <a:xfrm>
            <a:off x="457200" y="4818888"/>
            <a:ext cx="914400" cy="219456"/>
          </a:xfrm>
          <a:prstGeom prst="rect">
            <a:avLst/>
          </a:prstGeom>
          <a:noFill/>
          <a:ln/>
        </p:spPr>
        <p:txBody>
          <a:bodyPr wrap="square" lIns="0" tIns="0" rIns="0" bIns="0" rtlCol="0" anchor="ctr"/>
          <a:lstStyle/>
          <a:p>
            <a:pPr marL="0" indent="0">
              <a:buNone/>
            </a:pPr>
            <a:r>
              <a:rPr lang="en-US" sz="900" dirty="0">
                <a:solidFill>
                  <a:srgbClr val="8FB3AF"/>
                </a:solidFill>
                <a:latin typeface="Calibri" pitchFamily="34" charset="0"/>
                <a:ea typeface="Calibri" pitchFamily="34" charset="-122"/>
                <a:cs typeface="Calibri" pitchFamily="34" charset="-120"/>
              </a:rPr>
              <a:t>5 / 9</a:t>
            </a:r>
            <a:endParaRPr lang="en-US" sz="900" dirty="0"/>
          </a:p>
        </p:txBody>
      </p:sp>
      <p:sp>
        <p:nvSpPr>
          <p:cNvPr id="30" name="nav1">
            <a:hlinkClick r:id="rId8" action="ppaction://hlinksldjump"/>
          </p:cNvPr>
          <p:cNvSpPr/>
          <p:nvPr/>
        </p:nvSpPr>
        <p:spPr>
          <a:xfrm>
            <a:off x="4242816" y="4818888"/>
            <a:ext cx="73152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Problema</a:t>
            </a:r>
            <a:endParaRPr lang="en-US" sz="900" dirty="0"/>
          </a:p>
        </p:txBody>
      </p:sp>
      <p:sp>
        <p:nvSpPr>
          <p:cNvPr id="31" name="nav3">
            <a:hlinkClick r:id="rId9" action="ppaction://hlinksldjump"/>
          </p:cNvPr>
          <p:cNvSpPr/>
          <p:nvPr/>
        </p:nvSpPr>
        <p:spPr>
          <a:xfrm>
            <a:off x="5029200" y="4818888"/>
            <a:ext cx="713232"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Solución</a:t>
            </a:r>
            <a:endParaRPr lang="en-US" sz="900" dirty="0"/>
          </a:p>
        </p:txBody>
      </p:sp>
      <p:sp>
        <p:nvSpPr>
          <p:cNvPr id="32" name="nav5">
            <a:hlinkClick r:id="rId10" action="ppaction://hlinksldjump"/>
          </p:cNvPr>
          <p:cNvSpPr/>
          <p:nvPr/>
        </p:nvSpPr>
        <p:spPr>
          <a:xfrm>
            <a:off x="5797296" y="4818888"/>
            <a:ext cx="1005840" cy="219456"/>
          </a:xfrm>
          <a:prstGeom prst="roundRect">
            <a:avLst>
              <a:gd name="adj" fmla="val 50000"/>
            </a:avLst>
          </a:prstGeom>
          <a:solidFill>
            <a:srgbClr val="5FD3B5"/>
          </a:solidFill>
          <a:ln/>
        </p:spPr>
        <p:txBody>
          <a:bodyPr wrap="square" lIns="0" tIns="0" rIns="0" bIns="0" rtlCol="0" anchor="ctr"/>
          <a:lstStyle/>
          <a:p>
            <a:pPr marL="0" indent="0" algn="ctr">
              <a:buNone/>
            </a:pPr>
            <a:r>
              <a:rPr lang="en-US" sz="900" b="1" dirty="0">
                <a:solidFill>
                  <a:srgbClr val="0B2B33"/>
                </a:solidFill>
                <a:latin typeface="Calibri" pitchFamily="34" charset="0"/>
                <a:ea typeface="Calibri" pitchFamily="34" charset="-122"/>
                <a:cs typeface="Calibri" pitchFamily="34" charset="-120"/>
              </a:rPr>
              <a:t>Cómo funciona</a:t>
            </a:r>
            <a:endParaRPr lang="en-US" sz="900" dirty="0"/>
          </a:p>
        </p:txBody>
      </p:sp>
      <p:sp>
        <p:nvSpPr>
          <p:cNvPr id="33" name="nav7">
            <a:hlinkClick r:id="rId11" action="ppaction://hlinksldjump"/>
          </p:cNvPr>
          <p:cNvSpPr/>
          <p:nvPr/>
        </p:nvSpPr>
        <p:spPr>
          <a:xfrm>
            <a:off x="6858000" y="4818888"/>
            <a:ext cx="45720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MVP</a:t>
            </a:r>
            <a:endParaRPr lang="en-US" sz="900" dirty="0"/>
          </a:p>
        </p:txBody>
      </p:sp>
      <p:sp>
        <p:nvSpPr>
          <p:cNvPr id="34" name="nav8">
            <a:hlinkClick r:id="rId12" action="ppaction://hlinksldjump"/>
          </p:cNvPr>
          <p:cNvSpPr/>
          <p:nvPr/>
        </p:nvSpPr>
        <p:spPr>
          <a:xfrm>
            <a:off x="7370064" y="4818888"/>
            <a:ext cx="694944"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Negocio</a:t>
            </a:r>
            <a:endParaRPr lang="en-US" sz="900" dirty="0"/>
          </a:p>
        </p:txBody>
      </p:sp>
      <p:sp>
        <p:nvSpPr>
          <p:cNvPr id="35" name="nav9">
            <a:hlinkClick r:id="rId13" action="ppaction://hlinksldjump"/>
          </p:cNvPr>
          <p:cNvSpPr/>
          <p:nvPr/>
        </p:nvSpPr>
        <p:spPr>
          <a:xfrm>
            <a:off x="8119872" y="4818888"/>
            <a:ext cx="566928"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Cierre</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5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5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50"/>
                                        <p:tgtEl>
                                          <p:spTgt spid="20"/>
                                        </p:tgtEl>
                                      </p:cBhvr>
                                    </p:animEffect>
                                  </p:childTnLst>
                                </p:cTn>
                              </p:par>
                              <p:par>
                                <p:cTn id="62" presetID="10" presetClass="entr" presetSubtype="0"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45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45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45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450"/>
                                        <p:tgtEl>
                                          <p:spTgt spid="25"/>
                                        </p:tgtEl>
                                      </p:cBhvr>
                                    </p:animEffect>
                                  </p:childTnLst>
                                </p:cTn>
                              </p:par>
                              <p:par>
                                <p:cTn id="79" presetID="10" presetClass="entr" presetSubtype="0" fill="hold"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45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450"/>
                                        <p:tgtEl>
                                          <p:spTgt spid="27"/>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572000" cy="274320"/>
          </a:xfrm>
          <a:prstGeom prst="rect">
            <a:avLst/>
          </a:prstGeom>
          <a:noFill/>
          <a:ln/>
        </p:spPr>
        <p:txBody>
          <a:bodyPr wrap="square" lIns="0" tIns="0" rIns="0" bIns="0" rtlCol="0" anchor="ctr"/>
          <a:lstStyle/>
          <a:p>
            <a:pPr marL="0" indent="0">
              <a:buNone/>
            </a:pPr>
            <a:r>
              <a:rPr lang="en-US" sz="1100" b="1" kern="0" spc="300" dirty="0">
                <a:solidFill>
                  <a:srgbClr val="0E7C7B"/>
                </a:solidFill>
                <a:latin typeface="Calibri" pitchFamily="34" charset="0"/>
                <a:ea typeface="Calibri" pitchFamily="34" charset="-122"/>
                <a:cs typeface="Calibri" pitchFamily="34" charset="-120"/>
              </a:rPr>
              <a:t>EL RETO TÉCNICO</a:t>
            </a:r>
            <a:endParaRPr lang="en-US" sz="11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12343B"/>
                </a:solidFill>
                <a:latin typeface="Arial" pitchFamily="34" charset="0"/>
                <a:ea typeface="Arial" pitchFamily="34" charset="-122"/>
                <a:cs typeface="Arial" pitchFamily="34" charset="-120"/>
              </a:rPr>
              <a:t>Cada persona se mueve distinto</a:t>
            </a:r>
            <a:endParaRPr lang="en-US" sz="2800" dirty="0"/>
          </a:p>
        </p:txBody>
      </p:sp>
      <p:sp>
        <p:nvSpPr>
          <p:cNvPr id="4" name="c1-1"/>
          <p:cNvSpPr/>
          <p:nvPr/>
        </p:nvSpPr>
        <p:spPr>
          <a:xfrm>
            <a:off x="457200" y="1280160"/>
            <a:ext cx="3383280" cy="804672"/>
          </a:xfrm>
          <a:prstGeom prst="roundRect">
            <a:avLst>
              <a:gd name="adj" fmla="val 13636"/>
            </a:avLst>
          </a:prstGeom>
          <a:solidFill>
            <a:srgbClr val="E8F5F2"/>
          </a:solidFill>
          <a:ln/>
        </p:spPr>
      </p:sp>
      <p:sp>
        <p:nvSpPr>
          <p:cNvPr id="5" name="c1-2"/>
          <p:cNvSpPr/>
          <p:nvPr/>
        </p:nvSpPr>
        <p:spPr>
          <a:xfrm>
            <a:off x="621792" y="1453896"/>
            <a:ext cx="457200" cy="457200"/>
          </a:xfrm>
          <a:prstGeom prst="ellipse">
            <a:avLst/>
          </a:prstGeom>
          <a:solidFill>
            <a:srgbClr val="0E7C7B"/>
          </a:solidFill>
          <a:ln/>
        </p:spPr>
      </p:sp>
      <p:pic>
        <p:nvPicPr>
          <p:cNvPr id="6" name="c1-3" descr="preencoded.png"/>
          <p:cNvPicPr>
            <a:picLocks noChangeAspect="1"/>
          </p:cNvPicPr>
          <p:nvPr/>
        </p:nvPicPr>
        <p:blipFill>
          <a:blip r:embed="rId4"/>
          <a:stretch>
            <a:fillRect/>
          </a:stretch>
        </p:blipFill>
        <p:spPr>
          <a:xfrm>
            <a:off x="736092" y="1568196"/>
            <a:ext cx="228600" cy="228600"/>
          </a:xfrm>
          <a:prstGeom prst="rect">
            <a:avLst/>
          </a:prstGeom>
        </p:spPr>
      </p:pic>
      <p:sp>
        <p:nvSpPr>
          <p:cNvPr id="7" name="c1-4"/>
          <p:cNvSpPr txBox="1"/>
          <p:nvPr/>
        </p:nvSpPr>
        <p:spPr>
          <a:xfrm>
            <a:off x="1234440" y="1389888"/>
            <a:ext cx="2514600" cy="603504"/>
          </a:xfrm>
          <a:prstGeom prst="rect">
            <a:avLst/>
          </a:prstGeom>
          <a:noFill/>
          <a:ln/>
        </p:spPr>
        <p:txBody>
          <a:bodyPr wrap="square" lIns="0" tIns="0" rIns="0" bIns="0" rtlCol="0" anchor="ctr"/>
          <a:lstStyle/>
          <a:p>
            <a:pPr marL="0" indent="0">
              <a:buNone/>
            </a:pPr>
            <a:r>
              <a:rPr lang="en-US" sz="1400" b="1" dirty="0">
                <a:solidFill>
                  <a:srgbClr val="12343B"/>
                </a:solidFill>
                <a:latin typeface="Arial" pitchFamily="34" charset="0"/>
                <a:ea typeface="Arial" pitchFamily="34" charset="-122"/>
                <a:cs typeface="Arial" pitchFamily="34" charset="-120"/>
              </a:rPr>
              <a:t>Altura y distancia</a:t>
            </a:r>
            <a:endParaRPr lang="en-US" sz="1400" dirty="0"/>
          </a:p>
          <a:p>
            <a:pPr marL="0" indent="0">
              <a:buNone/>
            </a:pPr>
            <a:r>
              <a:rPr lang="en-US" sz="1200" dirty="0">
                <a:solidFill>
                  <a:srgbClr val="5B7680"/>
                </a:solidFill>
                <a:latin typeface="Calibri" pitchFamily="34" charset="0"/>
                <a:ea typeface="Calibri" pitchFamily="34" charset="-122"/>
                <a:cs typeface="Calibri" pitchFamily="34" charset="-120"/>
              </a:rPr>
              <a:t>→ ángulos articulares, no píxeles</a:t>
            </a:r>
            <a:endParaRPr lang="en-US" sz="1400" dirty="0"/>
          </a:p>
        </p:txBody>
      </p:sp>
      <p:sp>
        <p:nvSpPr>
          <p:cNvPr id="8" name="c2-1"/>
          <p:cNvSpPr/>
          <p:nvPr/>
        </p:nvSpPr>
        <p:spPr>
          <a:xfrm>
            <a:off x="457200" y="2212848"/>
            <a:ext cx="3383280" cy="804672"/>
          </a:xfrm>
          <a:prstGeom prst="roundRect">
            <a:avLst>
              <a:gd name="adj" fmla="val 13636"/>
            </a:avLst>
          </a:prstGeom>
          <a:solidFill>
            <a:srgbClr val="E8F5F2"/>
          </a:solidFill>
          <a:ln/>
        </p:spPr>
      </p:sp>
      <p:sp>
        <p:nvSpPr>
          <p:cNvPr id="9" name="c2-2"/>
          <p:cNvSpPr/>
          <p:nvPr/>
        </p:nvSpPr>
        <p:spPr>
          <a:xfrm>
            <a:off x="621792" y="2386584"/>
            <a:ext cx="457200" cy="457200"/>
          </a:xfrm>
          <a:prstGeom prst="ellipse">
            <a:avLst/>
          </a:prstGeom>
          <a:solidFill>
            <a:srgbClr val="0E7C7B"/>
          </a:solidFill>
          <a:ln/>
        </p:spPr>
      </p:sp>
      <p:pic>
        <p:nvPicPr>
          <p:cNvPr id="10" name="c2-3" descr="preencoded.png"/>
          <p:cNvPicPr>
            <a:picLocks noChangeAspect="1"/>
          </p:cNvPicPr>
          <p:nvPr/>
        </p:nvPicPr>
        <p:blipFill>
          <a:blip r:embed="rId5"/>
          <a:stretch>
            <a:fillRect/>
          </a:stretch>
        </p:blipFill>
        <p:spPr>
          <a:xfrm>
            <a:off x="736092" y="2500884"/>
            <a:ext cx="228600" cy="228600"/>
          </a:xfrm>
          <a:prstGeom prst="rect">
            <a:avLst/>
          </a:prstGeom>
        </p:spPr>
      </p:pic>
      <p:sp>
        <p:nvSpPr>
          <p:cNvPr id="11" name="c2-4"/>
          <p:cNvSpPr txBox="1"/>
          <p:nvPr/>
        </p:nvSpPr>
        <p:spPr>
          <a:xfrm>
            <a:off x="1234440" y="2322576"/>
            <a:ext cx="2514600" cy="603504"/>
          </a:xfrm>
          <a:prstGeom prst="rect">
            <a:avLst/>
          </a:prstGeom>
          <a:noFill/>
          <a:ln/>
        </p:spPr>
        <p:txBody>
          <a:bodyPr wrap="square" lIns="0" tIns="0" rIns="0" bIns="0" rtlCol="0" anchor="ctr"/>
          <a:lstStyle/>
          <a:p>
            <a:pPr marL="0" indent="0">
              <a:buNone/>
            </a:pPr>
            <a:r>
              <a:rPr lang="en-US" sz="1400" b="1" dirty="0">
                <a:solidFill>
                  <a:srgbClr val="12343B"/>
                </a:solidFill>
                <a:latin typeface="Arial" pitchFamily="34" charset="0"/>
                <a:ea typeface="Arial" pitchFamily="34" charset="-122"/>
                <a:cs typeface="Arial" pitchFamily="34" charset="-120"/>
              </a:rPr>
              <a:t>Velocidad</a:t>
            </a:r>
            <a:endParaRPr lang="en-US" sz="1400" dirty="0"/>
          </a:p>
          <a:p>
            <a:pPr marL="0" indent="0">
              <a:buNone/>
            </a:pPr>
            <a:r>
              <a:rPr lang="en-US" sz="1200" dirty="0">
                <a:solidFill>
                  <a:srgbClr val="5B7680"/>
                </a:solidFill>
                <a:latin typeface="Calibri" pitchFamily="34" charset="0"/>
                <a:ea typeface="Calibri" pitchFamily="34" charset="-122"/>
                <a:cs typeface="Calibri" pitchFamily="34" charset="-120"/>
              </a:rPr>
              <a:t>→ DTW alinea ambas curvas en el tiempo</a:t>
            </a:r>
            <a:endParaRPr lang="en-US" sz="1400" dirty="0"/>
          </a:p>
        </p:txBody>
      </p:sp>
      <p:sp>
        <p:nvSpPr>
          <p:cNvPr id="12" name="c3-1"/>
          <p:cNvSpPr/>
          <p:nvPr/>
        </p:nvSpPr>
        <p:spPr>
          <a:xfrm>
            <a:off x="457200" y="3145536"/>
            <a:ext cx="3383280" cy="804672"/>
          </a:xfrm>
          <a:prstGeom prst="roundRect">
            <a:avLst>
              <a:gd name="adj" fmla="val 13636"/>
            </a:avLst>
          </a:prstGeom>
          <a:solidFill>
            <a:srgbClr val="E8F5F2"/>
          </a:solidFill>
          <a:ln/>
        </p:spPr>
      </p:sp>
      <p:sp>
        <p:nvSpPr>
          <p:cNvPr id="13" name="c3-2"/>
          <p:cNvSpPr/>
          <p:nvPr/>
        </p:nvSpPr>
        <p:spPr>
          <a:xfrm>
            <a:off x="621792" y="3319272"/>
            <a:ext cx="457200" cy="457200"/>
          </a:xfrm>
          <a:prstGeom prst="ellipse">
            <a:avLst/>
          </a:prstGeom>
          <a:solidFill>
            <a:srgbClr val="0E7C7B"/>
          </a:solidFill>
          <a:ln/>
        </p:spPr>
      </p:sp>
      <p:pic>
        <p:nvPicPr>
          <p:cNvPr id="14" name="c3-3" descr="preencoded.png"/>
          <p:cNvPicPr>
            <a:picLocks noChangeAspect="1"/>
          </p:cNvPicPr>
          <p:nvPr/>
        </p:nvPicPr>
        <p:blipFill>
          <a:blip r:embed="rId6"/>
          <a:stretch>
            <a:fillRect/>
          </a:stretch>
        </p:blipFill>
        <p:spPr>
          <a:xfrm>
            <a:off x="736092" y="3433572"/>
            <a:ext cx="228600" cy="228600"/>
          </a:xfrm>
          <a:prstGeom prst="rect">
            <a:avLst/>
          </a:prstGeom>
        </p:spPr>
      </p:pic>
      <p:sp>
        <p:nvSpPr>
          <p:cNvPr id="15" name="c3-4"/>
          <p:cNvSpPr txBox="1"/>
          <p:nvPr/>
        </p:nvSpPr>
        <p:spPr>
          <a:xfrm>
            <a:off x="1234440" y="3255264"/>
            <a:ext cx="2514600" cy="603504"/>
          </a:xfrm>
          <a:prstGeom prst="rect">
            <a:avLst/>
          </a:prstGeom>
          <a:noFill/>
          <a:ln/>
        </p:spPr>
        <p:txBody>
          <a:bodyPr wrap="square" lIns="0" tIns="0" rIns="0" bIns="0" rtlCol="0" anchor="ctr"/>
          <a:lstStyle/>
          <a:p>
            <a:pPr marL="0" indent="0">
              <a:buNone/>
            </a:pPr>
            <a:r>
              <a:rPr lang="en-US" sz="1400" b="1" dirty="0">
                <a:solidFill>
                  <a:srgbClr val="12343B"/>
                </a:solidFill>
                <a:latin typeface="Arial" pitchFamily="34" charset="0"/>
                <a:ea typeface="Arial" pitchFamily="34" charset="-122"/>
                <a:cs typeface="Arial" pitchFamily="34" charset="-120"/>
              </a:rPr>
              <a:t>Amplitud</a:t>
            </a:r>
            <a:endParaRPr lang="en-US" sz="1400" dirty="0"/>
          </a:p>
          <a:p>
            <a:pPr marL="0" indent="0">
              <a:buNone/>
            </a:pPr>
            <a:r>
              <a:rPr lang="en-US" sz="1200" dirty="0">
                <a:solidFill>
                  <a:srgbClr val="5B7680"/>
                </a:solidFill>
                <a:latin typeface="Calibri" pitchFamily="34" charset="0"/>
                <a:ea typeface="Calibri" pitchFamily="34" charset="-122"/>
                <a:cs typeface="Calibri" pitchFamily="34" charset="-120"/>
              </a:rPr>
              <a:t>→ z-score y umbral calibrado con el patrón</a:t>
            </a:r>
            <a:endParaRPr lang="en-US" sz="1400" dirty="0"/>
          </a:p>
        </p:txBody>
      </p:sp>
      <p:graphicFrame>
        <p:nvGraphicFramePr>
          <p:cNvPr id="16" name="Chart 0"/>
          <p:cNvGraphicFramePr/>
          <p:nvPr/>
        </p:nvGraphicFramePr>
        <p:xfrm>
          <a:off x="4114800" y="1188720"/>
          <a:ext cx="4572000" cy="2834640"/>
        </p:xfrm>
        <a:graphic>
          <a:graphicData uri="http://schemas.openxmlformats.org/drawingml/2006/chart">
            <c:chart xmlns:c="http://schemas.openxmlformats.org/drawingml/2006/chart" xmlns:r="http://schemas.openxmlformats.org/officeDocument/2006/relationships" r:id="rId7"/>
          </a:graphicData>
        </a:graphic>
      </p:graphicFrame>
      <p:sp>
        <p:nvSpPr>
          <p:cNvPr id="17" name="c4-1"/>
          <p:cNvSpPr/>
          <p:nvPr/>
        </p:nvSpPr>
        <p:spPr>
          <a:xfrm>
            <a:off x="4114800" y="4114800"/>
            <a:ext cx="4572000" cy="548640"/>
          </a:xfrm>
          <a:prstGeom prst="roundRect">
            <a:avLst>
              <a:gd name="adj" fmla="val 20000"/>
            </a:avLst>
          </a:prstGeom>
          <a:solidFill>
            <a:srgbClr val="FF6B5B"/>
          </a:solidFill>
          <a:ln/>
        </p:spPr>
        <p:txBody>
          <a:bodyPr wrap="square" lIns="165100" tIns="165100" rIns="165100" bIns="16510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DTW alinea las dos curvas → </a:t>
            </a:r>
            <a:r>
              <a:rPr lang="en-US" sz="1300" b="1" dirty="0">
                <a:solidFill>
                  <a:srgbClr val="FFFFFF"/>
                </a:solidFill>
                <a:latin typeface="Calibri" pitchFamily="34" charset="0"/>
                <a:ea typeface="Calibri" pitchFamily="34" charset="-122"/>
                <a:cs typeface="Calibri" pitchFamily="34" charset="-120"/>
              </a:rPr>
              <a:t>parecido 86%</a:t>
            </a:r>
            <a:r>
              <a:rPr lang="en-US" sz="1300" dirty="0">
                <a:solidFill>
                  <a:srgbClr val="FFE1DD"/>
                </a:solidFill>
                <a:latin typeface="Calibri" pitchFamily="34" charset="0"/>
                <a:ea typeface="Calibri" pitchFamily="34" charset="-122"/>
                <a:cs typeface="Calibri" pitchFamily="34" charset="-120"/>
              </a:rPr>
              <a:t>  · le falta rango</a:t>
            </a:r>
            <a:endParaRPr lang="en-US" sz="1300" dirty="0"/>
          </a:p>
        </p:txBody>
      </p:sp>
      <p:sp>
        <p:nvSpPr>
          <p:cNvPr id="18" name="Text 12"/>
          <p:cNvSpPr txBox="1"/>
          <p:nvPr/>
        </p:nvSpPr>
        <p:spPr>
          <a:xfrm>
            <a:off x="457200" y="4160520"/>
            <a:ext cx="3383280" cy="228600"/>
          </a:xfrm>
          <a:prstGeom prst="rect">
            <a:avLst/>
          </a:prstGeom>
          <a:noFill/>
          <a:ln/>
        </p:spPr>
        <p:txBody>
          <a:bodyPr wrap="square" lIns="0" tIns="0" rIns="0" bIns="0" rtlCol="0" anchor="ctr"/>
          <a:lstStyle/>
          <a:p>
            <a:pPr marL="0" indent="0">
              <a:buNone/>
            </a:pPr>
            <a:r>
              <a:rPr lang="en-US" sz="900" i="1" dirty="0">
                <a:solidFill>
                  <a:srgbClr val="5B7680"/>
                </a:solidFill>
                <a:latin typeface="Calibri" pitchFamily="34" charset="0"/>
                <a:ea typeface="Calibri" pitchFamily="34" charset="-122"/>
                <a:cs typeface="Calibri" pitchFamily="34" charset="-120"/>
              </a:rPr>
              <a:t>Curvas simuladas para ilustrar</a:t>
            </a:r>
            <a:endParaRPr lang="en-US" sz="900" dirty="0"/>
          </a:p>
        </p:txBody>
      </p:sp>
      <p:sp>
        <p:nvSpPr>
          <p:cNvPr id="19" name="Text 13"/>
          <p:cNvSpPr txBox="1"/>
          <p:nvPr/>
        </p:nvSpPr>
        <p:spPr>
          <a:xfrm>
            <a:off x="457200" y="4818888"/>
            <a:ext cx="914400" cy="219456"/>
          </a:xfrm>
          <a:prstGeom prst="rect">
            <a:avLst/>
          </a:prstGeom>
          <a:noFill/>
          <a:ln/>
        </p:spPr>
        <p:txBody>
          <a:bodyPr wrap="square" lIns="0" tIns="0" rIns="0" bIns="0" rtlCol="0" anchor="ctr"/>
          <a:lstStyle/>
          <a:p>
            <a:pPr marL="0" indent="0">
              <a:buNone/>
            </a:pPr>
            <a:r>
              <a:rPr lang="en-US" sz="900" dirty="0">
                <a:solidFill>
                  <a:srgbClr val="5B7680"/>
                </a:solidFill>
                <a:latin typeface="Calibri" pitchFamily="34" charset="0"/>
                <a:ea typeface="Calibri" pitchFamily="34" charset="-122"/>
                <a:cs typeface="Calibri" pitchFamily="34" charset="-120"/>
              </a:rPr>
              <a:t>6 / 9</a:t>
            </a:r>
            <a:endParaRPr lang="en-US" sz="900" dirty="0"/>
          </a:p>
        </p:txBody>
      </p:sp>
      <p:sp>
        <p:nvSpPr>
          <p:cNvPr id="20" name="nav1">
            <a:hlinkClick r:id="rId8" action="ppaction://hlinksldjump"/>
          </p:cNvPr>
          <p:cNvSpPr/>
          <p:nvPr/>
        </p:nvSpPr>
        <p:spPr>
          <a:xfrm>
            <a:off x="4242816" y="4818888"/>
            <a:ext cx="731520"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Problema</a:t>
            </a:r>
            <a:endParaRPr lang="en-US" sz="900" dirty="0"/>
          </a:p>
        </p:txBody>
      </p:sp>
      <p:sp>
        <p:nvSpPr>
          <p:cNvPr id="21" name="nav3">
            <a:hlinkClick r:id="rId9" action="ppaction://hlinksldjump"/>
          </p:cNvPr>
          <p:cNvSpPr/>
          <p:nvPr/>
        </p:nvSpPr>
        <p:spPr>
          <a:xfrm>
            <a:off x="5029200" y="4818888"/>
            <a:ext cx="713232"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Solución</a:t>
            </a:r>
            <a:endParaRPr lang="en-US" sz="900" dirty="0"/>
          </a:p>
        </p:txBody>
      </p:sp>
      <p:sp>
        <p:nvSpPr>
          <p:cNvPr id="22" name="nav5">
            <a:hlinkClick r:id="rId10" action="ppaction://hlinksldjump"/>
          </p:cNvPr>
          <p:cNvSpPr/>
          <p:nvPr/>
        </p:nvSpPr>
        <p:spPr>
          <a:xfrm>
            <a:off x="5797296" y="4818888"/>
            <a:ext cx="1005840" cy="219456"/>
          </a:xfrm>
          <a:prstGeom prst="roundRect">
            <a:avLst>
              <a:gd name="adj" fmla="val 50000"/>
            </a:avLst>
          </a:prstGeom>
          <a:solidFill>
            <a:srgbClr val="5FD3B5"/>
          </a:solidFill>
          <a:ln/>
        </p:spPr>
        <p:txBody>
          <a:bodyPr wrap="square" lIns="0" tIns="0" rIns="0" bIns="0" rtlCol="0" anchor="ctr"/>
          <a:lstStyle/>
          <a:p>
            <a:pPr marL="0" indent="0" algn="ctr">
              <a:buNone/>
            </a:pPr>
            <a:r>
              <a:rPr lang="en-US" sz="900" b="1" dirty="0">
                <a:solidFill>
                  <a:srgbClr val="0B2B33"/>
                </a:solidFill>
                <a:latin typeface="Calibri" pitchFamily="34" charset="0"/>
                <a:ea typeface="Calibri" pitchFamily="34" charset="-122"/>
                <a:cs typeface="Calibri" pitchFamily="34" charset="-120"/>
              </a:rPr>
              <a:t>Cómo funciona</a:t>
            </a:r>
            <a:endParaRPr lang="en-US" sz="900" dirty="0"/>
          </a:p>
        </p:txBody>
      </p:sp>
      <p:sp>
        <p:nvSpPr>
          <p:cNvPr id="23" name="nav7">
            <a:hlinkClick r:id="rId11" action="ppaction://hlinksldjump"/>
          </p:cNvPr>
          <p:cNvSpPr/>
          <p:nvPr/>
        </p:nvSpPr>
        <p:spPr>
          <a:xfrm>
            <a:off x="6858000" y="4818888"/>
            <a:ext cx="457200"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MVP</a:t>
            </a:r>
            <a:endParaRPr lang="en-US" sz="900" dirty="0"/>
          </a:p>
        </p:txBody>
      </p:sp>
      <p:sp>
        <p:nvSpPr>
          <p:cNvPr id="24" name="nav8">
            <a:hlinkClick r:id="rId12" action="ppaction://hlinksldjump"/>
          </p:cNvPr>
          <p:cNvSpPr/>
          <p:nvPr/>
        </p:nvSpPr>
        <p:spPr>
          <a:xfrm>
            <a:off x="7370064" y="4818888"/>
            <a:ext cx="694944"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Negocio</a:t>
            </a:r>
            <a:endParaRPr lang="en-US" sz="900" dirty="0"/>
          </a:p>
        </p:txBody>
      </p:sp>
      <p:sp>
        <p:nvSpPr>
          <p:cNvPr id="25" name="nav9">
            <a:hlinkClick r:id="rId13" action="ppaction://hlinksldjump"/>
          </p:cNvPr>
          <p:cNvSpPr/>
          <p:nvPr/>
        </p:nvSpPr>
        <p:spPr>
          <a:xfrm>
            <a:off x="8119872" y="4818888"/>
            <a:ext cx="566928"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Cierre</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7" grpId="0" animBg="1"/>
    </p:bldLst>
  </p:timing>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572000" cy="274320"/>
          </a:xfrm>
          <a:prstGeom prst="rect">
            <a:avLst/>
          </a:prstGeom>
          <a:noFill/>
          <a:ln/>
        </p:spPr>
        <p:txBody>
          <a:bodyPr wrap="square" lIns="0" tIns="0" rIns="0" bIns="0" rtlCol="0" anchor="ctr"/>
          <a:lstStyle/>
          <a:p>
            <a:pPr marL="0" indent="0">
              <a:buNone/>
            </a:pPr>
            <a:r>
              <a:rPr lang="en-US" sz="1100" b="1" kern="0" spc="300" dirty="0">
                <a:solidFill>
                  <a:srgbClr val="0E7C7B"/>
                </a:solidFill>
                <a:latin typeface="Calibri" pitchFamily="34" charset="0"/>
                <a:ea typeface="Calibri" pitchFamily="34" charset="-122"/>
                <a:cs typeface="Calibri" pitchFamily="34" charset="-120"/>
              </a:rPr>
              <a:t>MVP</a:t>
            </a:r>
            <a:endParaRPr lang="en-US" sz="11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12343B"/>
                </a:solidFill>
                <a:latin typeface="Arial" pitchFamily="34" charset="0"/>
                <a:ea typeface="Arial" pitchFamily="34" charset="-122"/>
                <a:cs typeface="Arial" pitchFamily="34" charset="-120"/>
              </a:rPr>
              <a:t>Pocos ejercicios, bien medidos</a:t>
            </a:r>
            <a:endParaRPr lang="en-US" sz="2800" dirty="0"/>
          </a:p>
        </p:txBody>
      </p:sp>
      <p:sp>
        <p:nvSpPr>
          <p:cNvPr id="4" name="Text 2"/>
          <p:cNvSpPr txBox="1"/>
          <p:nvPr/>
        </p:nvSpPr>
        <p:spPr>
          <a:xfrm>
            <a:off x="457200" y="1234440"/>
            <a:ext cx="2651760" cy="274320"/>
          </a:xfrm>
          <a:prstGeom prst="rect">
            <a:avLst/>
          </a:prstGeom>
          <a:noFill/>
          <a:ln/>
        </p:spPr>
        <p:txBody>
          <a:bodyPr wrap="square" lIns="0" tIns="0" rIns="0" bIns="0" rtlCol="0" anchor="ctr"/>
          <a:lstStyle/>
          <a:p>
            <a:pPr marL="0" indent="0">
              <a:buNone/>
            </a:pPr>
            <a:r>
              <a:rPr lang="en-US" sz="1200" b="1" dirty="0">
                <a:solidFill>
                  <a:srgbClr val="5B7680"/>
                </a:solidFill>
                <a:latin typeface="Calibri" pitchFamily="34" charset="0"/>
                <a:ea typeface="Calibri" pitchFamily="34" charset="-122"/>
                <a:cs typeface="Calibri" pitchFamily="34" charset="-120"/>
              </a:rPr>
              <a:t>Ejercicios iniciales</a:t>
            </a:r>
            <a:endParaRPr lang="en-US" sz="1200" dirty="0"/>
          </a:p>
        </p:txBody>
      </p:sp>
      <p:sp>
        <p:nvSpPr>
          <p:cNvPr id="5" name="Text 3"/>
          <p:cNvSpPr txBox="1"/>
          <p:nvPr/>
        </p:nvSpPr>
        <p:spPr>
          <a:xfrm>
            <a:off x="3291840" y="1234440"/>
            <a:ext cx="2560320" cy="274320"/>
          </a:xfrm>
          <a:prstGeom prst="rect">
            <a:avLst/>
          </a:prstGeom>
          <a:noFill/>
          <a:ln/>
        </p:spPr>
        <p:txBody>
          <a:bodyPr wrap="square" lIns="0" tIns="0" rIns="0" bIns="0" rtlCol="0" anchor="ctr"/>
          <a:lstStyle/>
          <a:p>
            <a:pPr marL="0" indent="0">
              <a:buNone/>
            </a:pPr>
            <a:r>
              <a:rPr lang="en-US" sz="1200" b="1" dirty="0">
                <a:solidFill>
                  <a:srgbClr val="5B7680"/>
                </a:solidFill>
                <a:latin typeface="Calibri" pitchFamily="34" charset="0"/>
                <a:ea typeface="Calibri" pitchFamily="34" charset="-122"/>
                <a:cs typeface="Calibri" pitchFamily="34" charset="-120"/>
              </a:rPr>
              <a:t>Lo que entrega</a:t>
            </a:r>
            <a:endParaRPr lang="en-US" sz="1200" dirty="0"/>
          </a:p>
        </p:txBody>
      </p:sp>
      <p:sp>
        <p:nvSpPr>
          <p:cNvPr id="6" name="Text 4"/>
          <p:cNvSpPr/>
          <p:nvPr/>
        </p:nvSpPr>
        <p:spPr>
          <a:xfrm>
            <a:off x="457200" y="1600200"/>
            <a:ext cx="2651760" cy="713232"/>
          </a:xfrm>
          <a:prstGeom prst="roundRect">
            <a:avLst>
              <a:gd name="adj" fmla="val 15385"/>
            </a:avLst>
          </a:prstGeom>
          <a:solidFill>
            <a:srgbClr val="0B2B33"/>
          </a:solidFill>
          <a:ln/>
        </p:spPr>
        <p:txBody>
          <a:bodyPr wrap="square" lIns="68580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Apertura y cierre de mano</a:t>
            </a:r>
            <a:endParaRPr lang="en-US" sz="1300" dirty="0"/>
          </a:p>
        </p:txBody>
      </p:sp>
      <p:pic>
        <p:nvPicPr>
          <p:cNvPr id="7" name="Image 0" descr="preencoded.png"/>
          <p:cNvPicPr>
            <a:picLocks noChangeAspect="1"/>
          </p:cNvPicPr>
          <p:nvPr/>
        </p:nvPicPr>
        <p:blipFill>
          <a:blip r:embed="rId3"/>
          <a:stretch>
            <a:fillRect/>
          </a:stretch>
        </p:blipFill>
        <p:spPr>
          <a:xfrm>
            <a:off x="658368" y="1819656"/>
            <a:ext cx="274320" cy="274320"/>
          </a:xfrm>
          <a:prstGeom prst="rect">
            <a:avLst/>
          </a:prstGeom>
        </p:spPr>
      </p:pic>
      <p:sp>
        <p:nvSpPr>
          <p:cNvPr id="8" name="c1-1"/>
          <p:cNvSpPr/>
          <p:nvPr/>
        </p:nvSpPr>
        <p:spPr>
          <a:xfrm>
            <a:off x="3291840" y="1600200"/>
            <a:ext cx="2560320" cy="713232"/>
          </a:xfrm>
          <a:prstGeom prst="roundRect">
            <a:avLst>
              <a:gd name="adj" fmla="val 15385"/>
            </a:avLst>
          </a:prstGeom>
          <a:solidFill>
            <a:srgbClr val="E8F5F2"/>
          </a:solidFill>
          <a:ln/>
        </p:spPr>
        <p:txBody>
          <a:bodyPr wrap="square" lIns="139700" tIns="139700" rIns="139700" bIns="139700" rtlCol="0" anchor="ctr"/>
          <a:lstStyle/>
          <a:p>
            <a:pPr marL="0" indent="0">
              <a:buNone/>
            </a:pPr>
            <a:r>
              <a:rPr lang="en-US" sz="1400" b="1" dirty="0">
                <a:solidFill>
                  <a:srgbClr val="0E7C7B"/>
                </a:solidFill>
                <a:latin typeface="Arial" pitchFamily="34" charset="0"/>
                <a:ea typeface="Arial" pitchFamily="34" charset="-122"/>
                <a:cs typeface="Arial" pitchFamily="34" charset="-120"/>
              </a:rPr>
              <a:t>Detecta</a:t>
            </a:r>
            <a:endParaRPr lang="en-US" sz="1400" dirty="0"/>
          </a:p>
          <a:p>
            <a:pPr marL="0" indent="0">
              <a:buNone/>
            </a:pPr>
            <a:r>
              <a:rPr lang="en-US" sz="1100" dirty="0">
                <a:solidFill>
                  <a:srgbClr val="12343B"/>
                </a:solidFill>
                <a:latin typeface="Calibri" pitchFamily="34" charset="0"/>
                <a:ea typeface="Calibri" pitchFamily="34" charset="-122"/>
                <a:cs typeface="Calibri" pitchFamily="34" charset="-120"/>
              </a:rPr>
              <a:t>cada repetición</a:t>
            </a:r>
            <a:endParaRPr lang="en-US" sz="1400" dirty="0"/>
          </a:p>
        </p:txBody>
      </p:sp>
      <p:sp>
        <p:nvSpPr>
          <p:cNvPr id="9" name="Text 6"/>
          <p:cNvSpPr/>
          <p:nvPr/>
        </p:nvSpPr>
        <p:spPr>
          <a:xfrm>
            <a:off x="457200" y="2441448"/>
            <a:ext cx="2651760" cy="713232"/>
          </a:xfrm>
          <a:prstGeom prst="roundRect">
            <a:avLst>
              <a:gd name="adj" fmla="val 15385"/>
            </a:avLst>
          </a:prstGeom>
          <a:solidFill>
            <a:srgbClr val="0B2B33"/>
          </a:solidFill>
          <a:ln/>
        </p:spPr>
        <p:txBody>
          <a:bodyPr wrap="square" lIns="68580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Flexión de codo</a:t>
            </a:r>
            <a:endParaRPr lang="en-US" sz="1300" dirty="0"/>
          </a:p>
        </p:txBody>
      </p:sp>
      <p:pic>
        <p:nvPicPr>
          <p:cNvPr id="10" name="Image 1" descr="preencoded.png"/>
          <p:cNvPicPr>
            <a:picLocks noChangeAspect="1"/>
          </p:cNvPicPr>
          <p:nvPr/>
        </p:nvPicPr>
        <p:blipFill>
          <a:blip r:embed="rId4"/>
          <a:stretch>
            <a:fillRect/>
          </a:stretch>
        </p:blipFill>
        <p:spPr>
          <a:xfrm>
            <a:off x="658368" y="2660904"/>
            <a:ext cx="274320" cy="274320"/>
          </a:xfrm>
          <a:prstGeom prst="rect">
            <a:avLst/>
          </a:prstGeom>
        </p:spPr>
      </p:pic>
      <p:sp>
        <p:nvSpPr>
          <p:cNvPr id="11" name="c2-1"/>
          <p:cNvSpPr/>
          <p:nvPr/>
        </p:nvSpPr>
        <p:spPr>
          <a:xfrm>
            <a:off x="3291840" y="2441448"/>
            <a:ext cx="2560320" cy="713232"/>
          </a:xfrm>
          <a:prstGeom prst="roundRect">
            <a:avLst>
              <a:gd name="adj" fmla="val 15385"/>
            </a:avLst>
          </a:prstGeom>
          <a:solidFill>
            <a:srgbClr val="E8F5F2"/>
          </a:solidFill>
          <a:ln/>
        </p:spPr>
        <p:txBody>
          <a:bodyPr wrap="square" lIns="139700" tIns="139700" rIns="139700" bIns="139700" rtlCol="0" anchor="ctr"/>
          <a:lstStyle/>
          <a:p>
            <a:pPr marL="0" indent="0">
              <a:buNone/>
            </a:pPr>
            <a:r>
              <a:rPr lang="en-US" sz="1400" b="1" dirty="0">
                <a:solidFill>
                  <a:srgbClr val="0E7C7B"/>
                </a:solidFill>
                <a:latin typeface="Arial" pitchFamily="34" charset="0"/>
                <a:ea typeface="Arial" pitchFamily="34" charset="-122"/>
                <a:cs typeface="Arial" pitchFamily="34" charset="-120"/>
              </a:rPr>
              <a:t>Evalúa</a:t>
            </a:r>
            <a:endParaRPr lang="en-US" sz="1400" dirty="0"/>
          </a:p>
          <a:p>
            <a:pPr marL="0" indent="0">
              <a:buNone/>
            </a:pPr>
            <a:r>
              <a:rPr lang="en-US" sz="1100" dirty="0">
                <a:solidFill>
                  <a:srgbClr val="12343B"/>
                </a:solidFill>
                <a:latin typeface="Calibri" pitchFamily="34" charset="0"/>
                <a:ea typeface="Calibri" pitchFamily="34" charset="-122"/>
                <a:cs typeface="Calibri" pitchFamily="34" charset="-120"/>
              </a:rPr>
              <a:t>la calidad de ejecución</a:t>
            </a:r>
            <a:endParaRPr lang="en-US" sz="1400" dirty="0"/>
          </a:p>
        </p:txBody>
      </p:sp>
      <p:sp>
        <p:nvSpPr>
          <p:cNvPr id="12" name="Text 8"/>
          <p:cNvSpPr/>
          <p:nvPr/>
        </p:nvSpPr>
        <p:spPr>
          <a:xfrm>
            <a:off x="457200" y="3282696"/>
            <a:ext cx="2651760" cy="713232"/>
          </a:xfrm>
          <a:prstGeom prst="roundRect">
            <a:avLst>
              <a:gd name="adj" fmla="val 15385"/>
            </a:avLst>
          </a:prstGeom>
          <a:solidFill>
            <a:srgbClr val="0B2B33"/>
          </a:solidFill>
          <a:ln/>
        </p:spPr>
        <p:txBody>
          <a:bodyPr wrap="square" lIns="68580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Rotación de hombro</a:t>
            </a:r>
            <a:endParaRPr lang="en-US" sz="1300" dirty="0"/>
          </a:p>
        </p:txBody>
      </p:sp>
      <p:pic>
        <p:nvPicPr>
          <p:cNvPr id="13" name="Image 2" descr="preencoded.png"/>
          <p:cNvPicPr>
            <a:picLocks noChangeAspect="1"/>
          </p:cNvPicPr>
          <p:nvPr/>
        </p:nvPicPr>
        <p:blipFill>
          <a:blip r:embed="rId5"/>
          <a:stretch>
            <a:fillRect/>
          </a:stretch>
        </p:blipFill>
        <p:spPr>
          <a:xfrm>
            <a:off x="658368" y="3502152"/>
            <a:ext cx="274320" cy="274320"/>
          </a:xfrm>
          <a:prstGeom prst="rect">
            <a:avLst/>
          </a:prstGeom>
        </p:spPr>
      </p:pic>
      <p:sp>
        <p:nvSpPr>
          <p:cNvPr id="14" name="c3-1"/>
          <p:cNvSpPr/>
          <p:nvPr/>
        </p:nvSpPr>
        <p:spPr>
          <a:xfrm>
            <a:off x="3291840" y="3282696"/>
            <a:ext cx="2560320" cy="713232"/>
          </a:xfrm>
          <a:prstGeom prst="roundRect">
            <a:avLst>
              <a:gd name="adj" fmla="val 15385"/>
            </a:avLst>
          </a:prstGeom>
          <a:solidFill>
            <a:srgbClr val="E8F5F2"/>
          </a:solidFill>
          <a:ln/>
        </p:spPr>
        <p:txBody>
          <a:bodyPr wrap="square" lIns="139700" tIns="139700" rIns="139700" bIns="139700" rtlCol="0" anchor="ctr"/>
          <a:lstStyle/>
          <a:p>
            <a:pPr marL="0" indent="0">
              <a:buNone/>
            </a:pPr>
            <a:r>
              <a:rPr lang="en-US" sz="1400" b="1" dirty="0">
                <a:solidFill>
                  <a:srgbClr val="0E7C7B"/>
                </a:solidFill>
                <a:latin typeface="Arial" pitchFamily="34" charset="0"/>
                <a:ea typeface="Arial" pitchFamily="34" charset="-122"/>
                <a:cs typeface="Arial" pitchFamily="34" charset="-120"/>
              </a:rPr>
              <a:t>Reporta</a:t>
            </a:r>
            <a:endParaRPr lang="en-US" sz="1400" dirty="0"/>
          </a:p>
          <a:p>
            <a:pPr marL="0" indent="0">
              <a:buNone/>
            </a:pPr>
            <a:r>
              <a:rPr lang="en-US" sz="1100" dirty="0">
                <a:solidFill>
                  <a:srgbClr val="12343B"/>
                </a:solidFill>
                <a:latin typeface="Calibri" pitchFamily="34" charset="0"/>
                <a:ea typeface="Calibri" pitchFamily="34" charset="-122"/>
                <a:cs typeface="Calibri" pitchFamily="34" charset="-120"/>
              </a:rPr>
              <a:t>indicadores claros al paciente y al terapeuta</a:t>
            </a:r>
            <a:endParaRPr lang="en-US" sz="1400" dirty="0"/>
          </a:p>
        </p:txBody>
      </p:sp>
      <p:sp>
        <p:nvSpPr>
          <p:cNvPr id="15" name="Shape 10"/>
          <p:cNvSpPr/>
          <p:nvPr/>
        </p:nvSpPr>
        <p:spPr>
          <a:xfrm>
            <a:off x="6126480" y="1234440"/>
            <a:ext cx="2560320" cy="2880360"/>
          </a:xfrm>
          <a:prstGeom prst="roundRect">
            <a:avLst>
              <a:gd name="adj" fmla="val 4286"/>
            </a:avLst>
          </a:prstGeom>
          <a:solidFill>
            <a:srgbClr val="E8F5F2"/>
          </a:solidFill>
          <a:ln/>
        </p:spPr>
      </p:sp>
      <p:sp>
        <p:nvSpPr>
          <p:cNvPr id="16" name="Text 11"/>
          <p:cNvSpPr txBox="1"/>
          <p:nvPr/>
        </p:nvSpPr>
        <p:spPr>
          <a:xfrm>
            <a:off x="6309360" y="1325880"/>
            <a:ext cx="2286000" cy="320040"/>
          </a:xfrm>
          <a:prstGeom prst="rect">
            <a:avLst/>
          </a:prstGeom>
          <a:noFill/>
          <a:ln/>
        </p:spPr>
        <p:txBody>
          <a:bodyPr wrap="square" lIns="0" tIns="0" rIns="0" bIns="0" rtlCol="0" anchor="ctr"/>
          <a:lstStyle/>
          <a:p>
            <a:pPr marL="0" indent="0">
              <a:buNone/>
            </a:pPr>
            <a:r>
              <a:rPr lang="en-US" sz="1300" b="1" dirty="0">
                <a:solidFill>
                  <a:srgbClr val="12343B"/>
                </a:solidFill>
                <a:latin typeface="Arial" pitchFamily="34" charset="0"/>
                <a:ea typeface="Arial" pitchFamily="34" charset="-122"/>
                <a:cs typeface="Arial" pitchFamily="34" charset="-120"/>
              </a:rPr>
              <a:t>Brecha vs. competencia</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63640" y="1691640"/>
          <a:ext cx="2286000" cy="2286000"/>
        </p:xfrm>
        <a:graphic>
          <a:graphicData uri="http://schemas.openxmlformats.org/drawingml/2006/table">
            <a:tbl>
              <a:tblPr/>
              <a:tblGrid>
                <a:gridCol w="7772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tblGrid>
              <a:tr h="411480">
                <a:tc>
                  <a:txBody>
                    <a:bodyPr/>
                    <a:lstStyle/>
                    <a:p>
                      <a:pPr marL="0" indent="0" algn="ctr">
                        <a:buNone/>
                      </a:pPr>
                      <a:endParaRPr lang="en-US" sz="8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800" b="1" dirty="0">
                          <a:solidFill>
                            <a:srgbClr val="5B7680"/>
                          </a:solidFill>
                          <a:latin typeface="Calibri" pitchFamily="34" charset="0"/>
                          <a:ea typeface="Calibri" pitchFamily="34" charset="-122"/>
                          <a:cs typeface="Calibri" pitchFamily="34" charset="-120"/>
                        </a:rPr>
                        <a:t>Evalúa calidad</a:t>
                      </a:r>
                      <a:endParaRPr lang="en-US" sz="8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800" b="1" dirty="0">
                          <a:solidFill>
                            <a:srgbClr val="5B7680"/>
                          </a:solidFill>
                          <a:latin typeface="Calibri" pitchFamily="34" charset="0"/>
                          <a:ea typeface="Calibri" pitchFamily="34" charset="-122"/>
                          <a:cs typeface="Calibri" pitchFamily="34" charset="-120"/>
                        </a:rPr>
                        <a:t>Sin sensores</a:t>
                      </a:r>
                      <a:endParaRPr lang="en-US" sz="8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800" b="1" dirty="0">
                          <a:solidFill>
                            <a:srgbClr val="5B7680"/>
                          </a:solidFill>
                          <a:latin typeface="Calibri" pitchFamily="34" charset="0"/>
                          <a:ea typeface="Calibri" pitchFamily="34" charset="-122"/>
                          <a:cs typeface="Calibri" pitchFamily="34" charset="-120"/>
                        </a:rPr>
                        <a:t>A tu medida</a:t>
                      </a:r>
                      <a:endParaRPr lang="en-US" sz="8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12343B"/>
                          </a:solidFill>
                          <a:latin typeface="Calibri" pitchFamily="34" charset="0"/>
                          <a:ea typeface="Calibri" pitchFamily="34" charset="-122"/>
                          <a:cs typeface="Calibri" pitchFamily="34" charset="-120"/>
                        </a:rPr>
                        <a:t>Hoja / PDF</a:t>
                      </a:r>
                      <a:endParaRPr lang="en-US" sz="10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FF6B5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0E7C7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5B76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12343B"/>
                          </a:solidFill>
                          <a:latin typeface="Calibri" pitchFamily="34" charset="0"/>
                          <a:ea typeface="Calibri" pitchFamily="34" charset="-122"/>
                          <a:cs typeface="Calibri" pitchFamily="34" charset="-120"/>
                        </a:rPr>
                        <a:t>Video genérico</a:t>
                      </a:r>
                      <a:endParaRPr lang="en-US" sz="10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FF6B5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0E7C7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FF6B5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12343B"/>
                          </a:solidFill>
                          <a:latin typeface="Calibri" pitchFamily="34" charset="0"/>
                          <a:ea typeface="Calibri" pitchFamily="34" charset="-122"/>
                          <a:cs typeface="Calibri" pitchFamily="34" charset="-120"/>
                        </a:rPr>
                        <a:t>Contador de reps</a:t>
                      </a:r>
                      <a:endParaRPr lang="en-US" sz="10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FF6B5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0E7C7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FF6B5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12343B"/>
                          </a:solidFill>
                          <a:latin typeface="Calibri" pitchFamily="34" charset="0"/>
                          <a:ea typeface="Calibri" pitchFamily="34" charset="-122"/>
                          <a:cs typeface="Calibri" pitchFamily="34" charset="-120"/>
                        </a:rPr>
                        <a:t>Sensores wearables</a:t>
                      </a:r>
                      <a:endParaRPr lang="en-US" sz="10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0E7C7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FF6B5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tc>
                  <a:txBody>
                    <a:bodyPr/>
                    <a:lstStyle/>
                    <a:p>
                      <a:pPr marL="0" indent="0" algn="ctr">
                        <a:buNone/>
                      </a:pPr>
                      <a:r>
                        <a:rPr lang="en-US" sz="1400" b="1" dirty="0">
                          <a:solidFill>
                            <a:srgbClr val="5B76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8F5F2"/>
                    </a:solidFill>
                  </a:tcPr>
                </a:tc>
                <a:extLst>
                  <a:ext uri="{0D108BD9-81ED-4DB2-BD59-A6C34878D82A}">
                    <a16:rowId xmlns:a16="http://schemas.microsoft.com/office/drawing/2014/main" val="10004"/>
                  </a:ext>
                </a:extLst>
              </a:tr>
              <a:tr h="411480">
                <a:tc>
                  <a:txBody>
                    <a:bodyPr/>
                    <a:lstStyle/>
                    <a:p>
                      <a:pPr marL="0" indent="0">
                        <a:buNone/>
                      </a:pPr>
                      <a:r>
                        <a:rPr lang="en-US" sz="1000" b="1" dirty="0">
                          <a:solidFill>
                            <a:srgbClr val="12343B"/>
                          </a:solidFill>
                          <a:latin typeface="Calibri" pitchFamily="34" charset="0"/>
                          <a:ea typeface="Calibri" pitchFamily="34" charset="-122"/>
                          <a:cs typeface="Calibri" pitchFamily="34" charset="-120"/>
                        </a:rPr>
                        <a:t>GYMFITX Rehab</a:t>
                      </a:r>
                      <a:endParaRPr lang="en-US" sz="10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DEBE4"/>
                    </a:solidFill>
                  </a:tcPr>
                </a:tc>
                <a:tc>
                  <a:txBody>
                    <a:bodyPr/>
                    <a:lstStyle/>
                    <a:p>
                      <a:pPr marL="0" indent="0" algn="ctr">
                        <a:buNone/>
                      </a:pPr>
                      <a:r>
                        <a:rPr lang="en-US" sz="1400" b="1" dirty="0">
                          <a:solidFill>
                            <a:srgbClr val="0E7C7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DEBE4"/>
                    </a:solidFill>
                  </a:tcPr>
                </a:tc>
                <a:tc>
                  <a:txBody>
                    <a:bodyPr/>
                    <a:lstStyle/>
                    <a:p>
                      <a:pPr marL="0" indent="0" algn="ctr">
                        <a:buNone/>
                      </a:pPr>
                      <a:r>
                        <a:rPr lang="en-US" sz="1400" b="1" dirty="0">
                          <a:solidFill>
                            <a:srgbClr val="0E7C7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DEBE4"/>
                    </a:solidFill>
                  </a:tcPr>
                </a:tc>
                <a:tc>
                  <a:txBody>
                    <a:bodyPr/>
                    <a:lstStyle/>
                    <a:p>
                      <a:pPr marL="0" indent="0" algn="ctr">
                        <a:buNone/>
                      </a:pPr>
                      <a:r>
                        <a:rPr lang="en-US" sz="1400" b="1" dirty="0">
                          <a:solidFill>
                            <a:srgbClr val="0E7C7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27432" marR="2743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DEBE4"/>
                    </a:solidFill>
                  </a:tcPr>
                </a:tc>
                <a:extLst>
                  <a:ext uri="{0D108BD9-81ED-4DB2-BD59-A6C34878D82A}">
                    <a16:rowId xmlns:a16="http://schemas.microsoft.com/office/drawing/2014/main" val="10005"/>
                  </a:ext>
                </a:extLst>
              </a:tr>
            </a:tbl>
          </a:graphicData>
        </a:graphic>
      </p:graphicFrame>
      <p:sp>
        <p:nvSpPr>
          <p:cNvPr id="18" name="c4-1"/>
          <p:cNvSpPr/>
          <p:nvPr/>
        </p:nvSpPr>
        <p:spPr>
          <a:xfrm>
            <a:off x="457200" y="4297680"/>
            <a:ext cx="2651760" cy="384048"/>
          </a:xfrm>
          <a:prstGeom prst="roundRect">
            <a:avLst>
              <a:gd name="adj" fmla="val 50000"/>
            </a:avLst>
          </a:prstGeom>
          <a:solidFill>
            <a:srgbClr val="0E7C7B"/>
          </a:solidFill>
          <a:ln/>
        </p:spPr>
        <p:txBody>
          <a:bodyPr wrap="square" lIns="13970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POC  </a:t>
            </a:r>
            <a:r>
              <a:rPr lang="en-US" sz="1100" dirty="0">
                <a:solidFill>
                  <a:srgbClr val="FFFFFF"/>
                </a:solidFill>
                <a:latin typeface="Calibri" pitchFamily="34" charset="0"/>
                <a:ea typeface="Calibri" pitchFamily="34" charset="-122"/>
                <a:cs typeface="Calibri" pitchFamily="34" charset="-120"/>
              </a:rPr>
              <a:t>manos + DTW</a:t>
            </a:r>
            <a:endParaRPr lang="en-US" sz="1100" dirty="0"/>
          </a:p>
        </p:txBody>
      </p:sp>
      <p:sp>
        <p:nvSpPr>
          <p:cNvPr id="19" name="c5-2"/>
          <p:cNvSpPr txBox="1"/>
          <p:nvPr/>
        </p:nvSpPr>
        <p:spPr>
          <a:xfrm>
            <a:off x="3108960" y="4279392"/>
            <a:ext cx="137160" cy="411480"/>
          </a:xfrm>
          <a:prstGeom prst="rect">
            <a:avLst/>
          </a:prstGeom>
          <a:noFill/>
          <a:ln/>
        </p:spPr>
        <p:txBody>
          <a:bodyPr wrap="square" lIns="0" tIns="0" rIns="0" bIns="0" rtlCol="0" anchor="ctr"/>
          <a:lstStyle/>
          <a:p>
            <a:pPr marL="0" indent="0" algn="ctr">
              <a:buNone/>
            </a:pPr>
            <a:r>
              <a:rPr lang="en-US" sz="1800" b="1" dirty="0">
                <a:solidFill>
                  <a:srgbClr val="5B7680"/>
                </a:solidFill>
                <a:latin typeface="Calibri" pitchFamily="34" charset="0"/>
                <a:ea typeface="Calibri" pitchFamily="34" charset="-122"/>
                <a:cs typeface="Calibri" pitchFamily="34" charset="-120"/>
              </a:rPr>
              <a:t>›</a:t>
            </a:r>
            <a:endParaRPr lang="en-US" sz="1800" dirty="0"/>
          </a:p>
        </p:txBody>
      </p:sp>
      <p:sp>
        <p:nvSpPr>
          <p:cNvPr id="20" name="c5-1"/>
          <p:cNvSpPr/>
          <p:nvPr/>
        </p:nvSpPr>
        <p:spPr>
          <a:xfrm>
            <a:off x="3246120" y="4297680"/>
            <a:ext cx="2651760" cy="384048"/>
          </a:xfrm>
          <a:prstGeom prst="roundRect">
            <a:avLst>
              <a:gd name="adj" fmla="val 50000"/>
            </a:avLst>
          </a:prstGeom>
          <a:solidFill>
            <a:srgbClr val="0E7C7B"/>
          </a:solidFill>
          <a:ln/>
        </p:spPr>
        <p:txBody>
          <a:bodyPr wrap="square" lIns="13970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Prototipo  </a:t>
            </a:r>
            <a:r>
              <a:rPr lang="en-US" sz="1100" dirty="0">
                <a:solidFill>
                  <a:srgbClr val="FFFFFF"/>
                </a:solidFill>
                <a:latin typeface="Calibri" pitchFamily="34" charset="0"/>
                <a:ea typeface="Calibri" pitchFamily="34" charset="-122"/>
                <a:cs typeface="Calibri" pitchFamily="34" charset="-120"/>
              </a:rPr>
              <a:t>panel del terapeuta</a:t>
            </a:r>
            <a:endParaRPr lang="en-US" sz="1100" dirty="0"/>
          </a:p>
        </p:txBody>
      </p:sp>
      <p:sp>
        <p:nvSpPr>
          <p:cNvPr id="21" name="c6-2"/>
          <p:cNvSpPr txBox="1"/>
          <p:nvPr/>
        </p:nvSpPr>
        <p:spPr>
          <a:xfrm>
            <a:off x="5897880" y="4279392"/>
            <a:ext cx="137160" cy="411480"/>
          </a:xfrm>
          <a:prstGeom prst="rect">
            <a:avLst/>
          </a:prstGeom>
          <a:noFill/>
          <a:ln/>
        </p:spPr>
        <p:txBody>
          <a:bodyPr wrap="square" lIns="0" tIns="0" rIns="0" bIns="0" rtlCol="0" anchor="ctr"/>
          <a:lstStyle/>
          <a:p>
            <a:pPr marL="0" indent="0" algn="ctr">
              <a:buNone/>
            </a:pPr>
            <a:r>
              <a:rPr lang="en-US" sz="1800" b="1" dirty="0">
                <a:solidFill>
                  <a:srgbClr val="5B7680"/>
                </a:solidFill>
                <a:latin typeface="Calibri" pitchFamily="34" charset="0"/>
                <a:ea typeface="Calibri" pitchFamily="34" charset="-122"/>
                <a:cs typeface="Calibri" pitchFamily="34" charset="-120"/>
              </a:rPr>
              <a:t>›</a:t>
            </a:r>
            <a:endParaRPr lang="en-US" sz="1800" dirty="0"/>
          </a:p>
        </p:txBody>
      </p:sp>
      <p:sp>
        <p:nvSpPr>
          <p:cNvPr id="22" name="c6-1"/>
          <p:cNvSpPr/>
          <p:nvPr/>
        </p:nvSpPr>
        <p:spPr>
          <a:xfrm>
            <a:off x="6035040" y="4297680"/>
            <a:ext cx="2651760" cy="384048"/>
          </a:xfrm>
          <a:prstGeom prst="roundRect">
            <a:avLst>
              <a:gd name="adj" fmla="val 50000"/>
            </a:avLst>
          </a:prstGeom>
          <a:solidFill>
            <a:srgbClr val="FF6B5B"/>
          </a:solidFill>
          <a:ln/>
        </p:spPr>
        <p:txBody>
          <a:bodyPr wrap="square" lIns="13970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MVP · 30 días  </a:t>
            </a:r>
            <a:r>
              <a:rPr lang="en-US" sz="1100" dirty="0">
                <a:solidFill>
                  <a:srgbClr val="FFFFFF"/>
                </a:solidFill>
                <a:latin typeface="Calibri" pitchFamily="34" charset="0"/>
                <a:ea typeface="Calibri" pitchFamily="34" charset="-122"/>
                <a:cs typeface="Calibri" pitchFamily="34" charset="-120"/>
              </a:rPr>
              <a:t>web en Vercel / Render</a:t>
            </a:r>
            <a:endParaRPr lang="en-US" sz="1100" dirty="0"/>
          </a:p>
        </p:txBody>
      </p:sp>
      <p:sp>
        <p:nvSpPr>
          <p:cNvPr id="23" name="Text 17"/>
          <p:cNvSpPr txBox="1"/>
          <p:nvPr/>
        </p:nvSpPr>
        <p:spPr>
          <a:xfrm>
            <a:off x="457200" y="4818888"/>
            <a:ext cx="914400" cy="219456"/>
          </a:xfrm>
          <a:prstGeom prst="rect">
            <a:avLst/>
          </a:prstGeom>
          <a:noFill/>
          <a:ln/>
        </p:spPr>
        <p:txBody>
          <a:bodyPr wrap="square" lIns="0" tIns="0" rIns="0" bIns="0" rtlCol="0" anchor="ctr"/>
          <a:lstStyle/>
          <a:p>
            <a:pPr marL="0" indent="0">
              <a:buNone/>
            </a:pPr>
            <a:r>
              <a:rPr lang="en-US" sz="900" dirty="0">
                <a:solidFill>
                  <a:srgbClr val="5B7680"/>
                </a:solidFill>
                <a:latin typeface="Calibri" pitchFamily="34" charset="0"/>
                <a:ea typeface="Calibri" pitchFamily="34" charset="-122"/>
                <a:cs typeface="Calibri" pitchFamily="34" charset="-120"/>
              </a:rPr>
              <a:t>7 / 9</a:t>
            </a:r>
            <a:endParaRPr lang="en-US" sz="900" dirty="0"/>
          </a:p>
        </p:txBody>
      </p:sp>
      <p:sp>
        <p:nvSpPr>
          <p:cNvPr id="24" name="nav1">
            <a:hlinkClick r:id="rId6" action="ppaction://hlinksldjump"/>
          </p:cNvPr>
          <p:cNvSpPr/>
          <p:nvPr/>
        </p:nvSpPr>
        <p:spPr>
          <a:xfrm>
            <a:off x="4242816" y="4818888"/>
            <a:ext cx="731520"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Problema</a:t>
            </a:r>
            <a:endParaRPr lang="en-US" sz="900" dirty="0"/>
          </a:p>
        </p:txBody>
      </p:sp>
      <p:sp>
        <p:nvSpPr>
          <p:cNvPr id="25" name="nav3">
            <a:hlinkClick r:id="rId7" action="ppaction://hlinksldjump"/>
          </p:cNvPr>
          <p:cNvSpPr/>
          <p:nvPr/>
        </p:nvSpPr>
        <p:spPr>
          <a:xfrm>
            <a:off x="5029200" y="4818888"/>
            <a:ext cx="713232"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Solución</a:t>
            </a:r>
            <a:endParaRPr lang="en-US" sz="900" dirty="0"/>
          </a:p>
        </p:txBody>
      </p:sp>
      <p:sp>
        <p:nvSpPr>
          <p:cNvPr id="26" name="nav5">
            <a:hlinkClick r:id="rId8" action="ppaction://hlinksldjump"/>
          </p:cNvPr>
          <p:cNvSpPr/>
          <p:nvPr/>
        </p:nvSpPr>
        <p:spPr>
          <a:xfrm>
            <a:off x="5797296" y="4818888"/>
            <a:ext cx="1005840"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Cómo funciona</a:t>
            </a:r>
            <a:endParaRPr lang="en-US" sz="900" dirty="0"/>
          </a:p>
        </p:txBody>
      </p:sp>
      <p:sp>
        <p:nvSpPr>
          <p:cNvPr id="27" name="nav7">
            <a:hlinkClick r:id="rId9" action="ppaction://hlinksldjump"/>
          </p:cNvPr>
          <p:cNvSpPr/>
          <p:nvPr/>
        </p:nvSpPr>
        <p:spPr>
          <a:xfrm>
            <a:off x="6858000" y="4818888"/>
            <a:ext cx="457200" cy="219456"/>
          </a:xfrm>
          <a:prstGeom prst="roundRect">
            <a:avLst>
              <a:gd name="adj" fmla="val 50000"/>
            </a:avLst>
          </a:prstGeom>
          <a:solidFill>
            <a:srgbClr val="5FD3B5"/>
          </a:solidFill>
          <a:ln/>
        </p:spPr>
        <p:txBody>
          <a:bodyPr wrap="square" lIns="0" tIns="0" rIns="0" bIns="0" rtlCol="0" anchor="ctr"/>
          <a:lstStyle/>
          <a:p>
            <a:pPr marL="0" indent="0" algn="ctr">
              <a:buNone/>
            </a:pPr>
            <a:r>
              <a:rPr lang="en-US" sz="900" b="1" dirty="0">
                <a:solidFill>
                  <a:srgbClr val="0B2B33"/>
                </a:solidFill>
                <a:latin typeface="Calibri" pitchFamily="34" charset="0"/>
                <a:ea typeface="Calibri" pitchFamily="34" charset="-122"/>
                <a:cs typeface="Calibri" pitchFamily="34" charset="-120"/>
              </a:rPr>
              <a:t>MVP</a:t>
            </a:r>
            <a:endParaRPr lang="en-US" sz="900" dirty="0"/>
          </a:p>
        </p:txBody>
      </p:sp>
      <p:sp>
        <p:nvSpPr>
          <p:cNvPr id="28" name="nav8">
            <a:hlinkClick r:id="rId10" action="ppaction://hlinksldjump"/>
          </p:cNvPr>
          <p:cNvSpPr/>
          <p:nvPr/>
        </p:nvSpPr>
        <p:spPr>
          <a:xfrm>
            <a:off x="7370064" y="4818888"/>
            <a:ext cx="694944"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Negocio</a:t>
            </a:r>
            <a:endParaRPr lang="en-US" sz="900" dirty="0"/>
          </a:p>
        </p:txBody>
      </p:sp>
      <p:sp>
        <p:nvSpPr>
          <p:cNvPr id="29" name="nav9">
            <a:hlinkClick r:id="rId11" action="ppaction://hlinksldjump"/>
          </p:cNvPr>
          <p:cNvSpPr/>
          <p:nvPr/>
        </p:nvSpPr>
        <p:spPr>
          <a:xfrm>
            <a:off x="8119872" y="4818888"/>
            <a:ext cx="566928" cy="219456"/>
          </a:xfrm>
          <a:prstGeom prst="roundRect">
            <a:avLst>
              <a:gd name="adj" fmla="val 50000"/>
            </a:avLst>
          </a:prstGeom>
          <a:solidFill>
            <a:srgbClr val="0B2B33">
              <a:alpha val="0"/>
            </a:srgbClr>
          </a:solidFill>
          <a:ln w="9525">
            <a:solidFill>
              <a:srgbClr val="B9D3CE"/>
            </a:solidFill>
          </a:ln>
        </p:spPr>
        <p:txBody>
          <a:bodyPr wrap="square" lIns="0" tIns="0" rIns="0" bIns="0" rtlCol="0" anchor="ctr"/>
          <a:lstStyle/>
          <a:p>
            <a:pPr marL="0" indent="0" algn="ctr">
              <a:buNone/>
            </a:pPr>
            <a:r>
              <a:rPr lang="en-US" sz="900" dirty="0">
                <a:solidFill>
                  <a:srgbClr val="5B7680"/>
                </a:solidFill>
                <a:latin typeface="Calibri" pitchFamily="34" charset="0"/>
                <a:ea typeface="Calibri" pitchFamily="34" charset="-122"/>
                <a:cs typeface="Calibri" pitchFamily="34" charset="-120"/>
              </a:rPr>
              <a:t>Cierre</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5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45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8" grpId="0" animBg="1"/>
      <p:bldP spid="19" grpId="0" animBg="1"/>
      <p:bldP spid="20" grpId="0" animBg="1"/>
      <p:bldP spid="21"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B33"/>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572000" cy="274320"/>
          </a:xfrm>
          <a:prstGeom prst="rect">
            <a:avLst/>
          </a:prstGeom>
          <a:noFill/>
          <a:ln/>
        </p:spPr>
        <p:txBody>
          <a:bodyPr wrap="square" lIns="0" tIns="0" rIns="0" bIns="0" rtlCol="0" anchor="ctr"/>
          <a:lstStyle/>
          <a:p>
            <a:pPr marL="0" indent="0">
              <a:buNone/>
            </a:pPr>
            <a:r>
              <a:rPr lang="en-US" sz="1100" b="1" kern="0" spc="300" dirty="0">
                <a:solidFill>
                  <a:srgbClr val="5FD3B5"/>
                </a:solidFill>
                <a:latin typeface="Calibri" pitchFamily="34" charset="0"/>
                <a:ea typeface="Calibri" pitchFamily="34" charset="-122"/>
                <a:cs typeface="Calibri" pitchFamily="34" charset="-120"/>
              </a:rPr>
              <a:t>NEGOCIO E IMPACTO</a:t>
            </a:r>
            <a:endParaRPr lang="en-US" sz="11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Un mercado que crece 14% al año</a:t>
            </a:r>
            <a:endParaRPr lang="en-US" sz="2800" dirty="0"/>
          </a:p>
        </p:txBody>
      </p:sp>
      <p:sp>
        <p:nvSpPr>
          <p:cNvPr id="4" name="c1-1"/>
          <p:cNvSpPr/>
          <p:nvPr/>
        </p:nvSpPr>
        <p:spPr>
          <a:xfrm>
            <a:off x="457200" y="1554480"/>
            <a:ext cx="3017520" cy="3017520"/>
          </a:xfrm>
          <a:prstGeom prst="ellipse">
            <a:avLst/>
          </a:prstGeom>
          <a:solidFill>
            <a:srgbClr val="1E5F66"/>
          </a:solidFill>
          <a:ln/>
        </p:spPr>
      </p:sp>
      <p:sp>
        <p:nvSpPr>
          <p:cNvPr id="5" name="c1-2"/>
          <p:cNvSpPr txBox="1"/>
          <p:nvPr/>
        </p:nvSpPr>
        <p:spPr>
          <a:xfrm>
            <a:off x="457200" y="1508760"/>
            <a:ext cx="30175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TAM</a:t>
            </a:r>
            <a:endParaRPr lang="en-US" sz="1200" dirty="0"/>
          </a:p>
        </p:txBody>
      </p:sp>
      <p:sp>
        <p:nvSpPr>
          <p:cNvPr id="6" name="c2-1"/>
          <p:cNvSpPr/>
          <p:nvPr/>
        </p:nvSpPr>
        <p:spPr>
          <a:xfrm>
            <a:off x="914400" y="2468880"/>
            <a:ext cx="2103120" cy="2103120"/>
          </a:xfrm>
          <a:prstGeom prst="ellipse">
            <a:avLst/>
          </a:prstGeom>
          <a:solidFill>
            <a:srgbClr val="0E7C7B"/>
          </a:solidFill>
          <a:ln/>
        </p:spPr>
      </p:sp>
      <p:sp>
        <p:nvSpPr>
          <p:cNvPr id="7" name="c2-2"/>
          <p:cNvSpPr txBox="1"/>
          <p:nvPr/>
        </p:nvSpPr>
        <p:spPr>
          <a:xfrm>
            <a:off x="457200" y="2560320"/>
            <a:ext cx="30175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SAM</a:t>
            </a:r>
            <a:endParaRPr lang="en-US" sz="1200" dirty="0"/>
          </a:p>
        </p:txBody>
      </p:sp>
      <p:sp>
        <p:nvSpPr>
          <p:cNvPr id="8" name="c3-1"/>
          <p:cNvSpPr/>
          <p:nvPr/>
        </p:nvSpPr>
        <p:spPr>
          <a:xfrm>
            <a:off x="1371600" y="3383280"/>
            <a:ext cx="1188720" cy="1188720"/>
          </a:xfrm>
          <a:prstGeom prst="ellipse">
            <a:avLst/>
          </a:prstGeom>
          <a:solidFill>
            <a:srgbClr val="5FD3B5"/>
          </a:solidFill>
          <a:ln/>
        </p:spPr>
      </p:sp>
      <p:sp>
        <p:nvSpPr>
          <p:cNvPr id="9" name="c3-2"/>
          <p:cNvSpPr txBox="1"/>
          <p:nvPr/>
        </p:nvSpPr>
        <p:spPr>
          <a:xfrm>
            <a:off x="457200" y="3611880"/>
            <a:ext cx="3017520" cy="274320"/>
          </a:xfrm>
          <a:prstGeom prst="rect">
            <a:avLst/>
          </a:prstGeom>
          <a:noFill/>
          <a:ln/>
        </p:spPr>
        <p:txBody>
          <a:bodyPr wrap="square" lIns="0" tIns="0" rIns="0" bIns="0" rtlCol="0" anchor="ctr"/>
          <a:lstStyle/>
          <a:p>
            <a:pPr marL="0" indent="0" algn="ctr">
              <a:buNone/>
            </a:pPr>
            <a:r>
              <a:rPr lang="en-US" sz="1200" b="1" dirty="0">
                <a:solidFill>
                  <a:srgbClr val="0B2B33"/>
                </a:solidFill>
                <a:latin typeface="Calibri" pitchFamily="34" charset="0"/>
                <a:ea typeface="Calibri" pitchFamily="34" charset="-122"/>
                <a:cs typeface="Calibri" pitchFamily="34" charset="-120"/>
              </a:rPr>
              <a:t>SOM</a:t>
            </a:r>
            <a:endParaRPr lang="en-US" sz="1200" dirty="0"/>
          </a:p>
        </p:txBody>
      </p:sp>
      <p:sp>
        <p:nvSpPr>
          <p:cNvPr id="10" name="c1-3"/>
          <p:cNvSpPr txBox="1"/>
          <p:nvPr/>
        </p:nvSpPr>
        <p:spPr>
          <a:xfrm>
            <a:off x="3118981" y="1371600"/>
            <a:ext cx="2641739" cy="914400"/>
          </a:xfrm>
          <a:prstGeom prst="rect">
            <a:avLst/>
          </a:prstGeom>
          <a:noFill/>
          <a:ln/>
        </p:spPr>
        <p:txBody>
          <a:bodyPr wrap="square" lIns="0" tIns="0" rIns="0" bIns="0" rtlCol="0" anchor="t"/>
          <a:lstStyle/>
          <a:p>
            <a:pPr marL="0" indent="0">
              <a:spcAft>
                <a:spcPts val="300"/>
              </a:spcAft>
              <a:buNone/>
            </a:pPr>
            <a:r>
              <a:rPr lang="en-US" b="1" dirty="0">
                <a:solidFill>
                  <a:srgbClr val="5FD3B5"/>
                </a:solidFill>
                <a:latin typeface="Arial" pitchFamily="34" charset="0"/>
                <a:ea typeface="Arial" pitchFamily="34" charset="-122"/>
                <a:cs typeface="Arial" pitchFamily="34" charset="-120"/>
              </a:rPr>
              <a:t>TAM · USD 4,7 mil MM</a:t>
            </a:r>
            <a:endParaRPr lang="en-US" b="1" dirty="0"/>
          </a:p>
          <a:p>
            <a:pPr marL="0" indent="0">
              <a:spcAft>
                <a:spcPts val="300"/>
              </a:spcAft>
              <a:buNone/>
            </a:pPr>
            <a:r>
              <a:rPr lang="en-US" sz="1100" dirty="0">
                <a:solidFill>
                  <a:srgbClr val="CFE3E0"/>
                </a:solidFill>
                <a:latin typeface="Calibri" pitchFamily="34" charset="0"/>
                <a:ea typeface="Calibri" pitchFamily="34" charset="-122"/>
                <a:cs typeface="Calibri" pitchFamily="34" charset="-120"/>
              </a:rPr>
              <a:t>Telerehabilitación global (2023); USD 15,4 mil M al 2032 · SNS Insider, </a:t>
            </a:r>
            <a:r>
              <a:rPr lang="en-US" sz="1100" dirty="0" err="1">
                <a:solidFill>
                  <a:srgbClr val="CFE3E0"/>
                </a:solidFill>
                <a:latin typeface="Calibri" pitchFamily="34" charset="0"/>
                <a:ea typeface="Calibri" pitchFamily="34" charset="-122"/>
                <a:cs typeface="Calibri" pitchFamily="34" charset="-120"/>
              </a:rPr>
              <a:t>en</a:t>
            </a:r>
            <a:r>
              <a:rPr lang="en-US" sz="1100" dirty="0">
                <a:solidFill>
                  <a:srgbClr val="CFE3E0"/>
                </a:solidFill>
                <a:latin typeface="Calibri" pitchFamily="34" charset="0"/>
                <a:ea typeface="Calibri" pitchFamily="34" charset="-122"/>
                <a:cs typeface="Calibri" pitchFamily="34" charset="-120"/>
              </a:rPr>
              <a:t> Peru $ 200 mil</a:t>
            </a:r>
            <a:endParaRPr lang="en-US" sz="1400" dirty="0"/>
          </a:p>
        </p:txBody>
      </p:sp>
      <p:sp>
        <p:nvSpPr>
          <p:cNvPr id="11" name="c2-3"/>
          <p:cNvSpPr txBox="1"/>
          <p:nvPr/>
        </p:nvSpPr>
        <p:spPr>
          <a:xfrm>
            <a:off x="3657600" y="2468880"/>
            <a:ext cx="2103120" cy="914400"/>
          </a:xfrm>
          <a:prstGeom prst="rect">
            <a:avLst/>
          </a:prstGeom>
          <a:noFill/>
          <a:ln/>
        </p:spPr>
        <p:txBody>
          <a:bodyPr wrap="square" lIns="0" tIns="0" rIns="0" bIns="0" rtlCol="0" anchor="t"/>
          <a:lstStyle/>
          <a:p>
            <a:pPr marL="0" indent="0">
              <a:spcAft>
                <a:spcPts val="300"/>
              </a:spcAft>
              <a:buNone/>
            </a:pPr>
            <a:r>
              <a:rPr lang="en-US" sz="1400" b="1" dirty="0">
                <a:solidFill>
                  <a:srgbClr val="5FD3B5"/>
                </a:solidFill>
                <a:latin typeface="Arial" pitchFamily="34" charset="0"/>
                <a:ea typeface="Arial" pitchFamily="34" charset="-122"/>
                <a:cs typeface="Arial" pitchFamily="34" charset="-120"/>
              </a:rPr>
              <a:t>SAM · 3,2 M personas</a:t>
            </a:r>
            <a:endParaRPr lang="en-US" sz="1400" dirty="0"/>
          </a:p>
          <a:p>
            <a:pPr marL="0" indent="0">
              <a:spcAft>
                <a:spcPts val="300"/>
              </a:spcAft>
              <a:buNone/>
            </a:pPr>
            <a:r>
              <a:rPr lang="en-US" sz="1100" dirty="0">
                <a:solidFill>
                  <a:srgbClr val="CFE3E0"/>
                </a:solidFill>
                <a:latin typeface="Calibri" pitchFamily="34" charset="0"/>
                <a:ea typeface="Calibri" pitchFamily="34" charset="-122"/>
                <a:cs typeface="Calibri" pitchFamily="34" charset="-120"/>
              </a:rPr>
              <a:t>Peruanos con limitación permanente · INEI 2017</a:t>
            </a:r>
            <a:endParaRPr lang="en-US" sz="1400" dirty="0"/>
          </a:p>
        </p:txBody>
      </p:sp>
      <p:sp>
        <p:nvSpPr>
          <p:cNvPr id="12" name="c3-3"/>
          <p:cNvSpPr txBox="1"/>
          <p:nvPr/>
        </p:nvSpPr>
        <p:spPr>
          <a:xfrm>
            <a:off x="3657600" y="3566160"/>
            <a:ext cx="2103120" cy="914400"/>
          </a:xfrm>
          <a:prstGeom prst="rect">
            <a:avLst/>
          </a:prstGeom>
          <a:noFill/>
          <a:ln/>
        </p:spPr>
        <p:txBody>
          <a:bodyPr wrap="square" lIns="0" tIns="0" rIns="0" bIns="0" rtlCol="0" anchor="t"/>
          <a:lstStyle/>
          <a:p>
            <a:pPr marL="0" indent="0">
              <a:spcAft>
                <a:spcPts val="300"/>
              </a:spcAft>
              <a:buNone/>
            </a:pPr>
            <a:r>
              <a:rPr lang="en-US" sz="1400" b="1" dirty="0">
                <a:solidFill>
                  <a:srgbClr val="5FD3B5"/>
                </a:solidFill>
                <a:latin typeface="Arial" pitchFamily="34" charset="0"/>
                <a:ea typeface="Arial" pitchFamily="34" charset="-122"/>
                <a:cs typeface="Arial" pitchFamily="34" charset="-120"/>
              </a:rPr>
              <a:t>SOM · 10 clínicas</a:t>
            </a:r>
            <a:endParaRPr lang="en-US" sz="1400" dirty="0"/>
          </a:p>
          <a:p>
            <a:pPr marL="0" indent="0">
              <a:spcAft>
                <a:spcPts val="300"/>
              </a:spcAft>
              <a:buNone/>
            </a:pPr>
            <a:r>
              <a:rPr lang="en-US" sz="1100" dirty="0">
                <a:solidFill>
                  <a:srgbClr val="CFE3E0"/>
                </a:solidFill>
                <a:latin typeface="Calibri" pitchFamily="34" charset="0"/>
                <a:ea typeface="Calibri" pitchFamily="34" charset="-122"/>
                <a:cs typeface="Calibri" pitchFamily="34" charset="-120"/>
              </a:rPr>
              <a:t>Meta año 1 en Lima, ~1.000 pacientes activos (supuesto)</a:t>
            </a:r>
            <a:endParaRPr lang="en-US" sz="1400" dirty="0"/>
          </a:p>
        </p:txBody>
      </p:sp>
      <p:sp>
        <p:nvSpPr>
          <p:cNvPr id="13" name="c4-10"/>
          <p:cNvSpPr/>
          <p:nvPr/>
        </p:nvSpPr>
        <p:spPr>
          <a:xfrm>
            <a:off x="5943600" y="1371600"/>
            <a:ext cx="2743200" cy="960120"/>
          </a:xfrm>
          <a:prstGeom prst="roundRect">
            <a:avLst>
              <a:gd name="adj" fmla="val 9524"/>
            </a:avLst>
          </a:prstGeom>
          <a:solidFill>
            <a:srgbClr val="133E47"/>
          </a:solidFill>
          <a:ln/>
        </p:spPr>
      </p:sp>
      <p:sp>
        <p:nvSpPr>
          <p:cNvPr id="14" name="c4-20"/>
          <p:cNvSpPr/>
          <p:nvPr/>
        </p:nvSpPr>
        <p:spPr>
          <a:xfrm>
            <a:off x="6080760" y="1618488"/>
            <a:ext cx="457200" cy="457200"/>
          </a:xfrm>
          <a:prstGeom prst="ellipse">
            <a:avLst/>
          </a:prstGeom>
          <a:solidFill>
            <a:srgbClr val="5FD3B5"/>
          </a:solidFill>
          <a:ln/>
        </p:spPr>
      </p:sp>
      <p:pic>
        <p:nvPicPr>
          <p:cNvPr id="15" name="c4-30" descr="preencoded.png"/>
          <p:cNvPicPr>
            <a:picLocks noChangeAspect="1"/>
          </p:cNvPicPr>
          <p:nvPr/>
        </p:nvPicPr>
        <p:blipFill>
          <a:blip r:embed="rId3"/>
          <a:stretch>
            <a:fillRect/>
          </a:stretch>
        </p:blipFill>
        <p:spPr>
          <a:xfrm>
            <a:off x="6195060" y="1732788"/>
            <a:ext cx="228600" cy="228600"/>
          </a:xfrm>
          <a:prstGeom prst="rect">
            <a:avLst/>
          </a:prstGeom>
        </p:spPr>
      </p:pic>
      <p:sp>
        <p:nvSpPr>
          <p:cNvPr id="16" name="c4-40"/>
          <p:cNvSpPr txBox="1"/>
          <p:nvPr/>
        </p:nvSpPr>
        <p:spPr>
          <a:xfrm>
            <a:off x="6675120" y="1463040"/>
            <a:ext cx="1920240" cy="7772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 Modelo</a:t>
            </a:r>
            <a:endParaRPr lang="en-US" sz="1300" dirty="0"/>
          </a:p>
          <a:p>
            <a:pPr marL="0" indent="0">
              <a:buNone/>
            </a:pPr>
            <a:r>
              <a:rPr lang="en-US" sz="1050" dirty="0">
                <a:solidFill>
                  <a:srgbClr val="CFE3E0"/>
                </a:solidFill>
                <a:latin typeface="Calibri" pitchFamily="34" charset="0"/>
                <a:ea typeface="Calibri" pitchFamily="34" charset="-122"/>
                <a:cs typeface="Calibri" pitchFamily="34" charset="-120"/>
              </a:rPr>
              <a:t>Suscripción B2B: S/ 20 por paciente activo al mes (propuesta).</a:t>
            </a:r>
            <a:endParaRPr lang="en-US" sz="1300" dirty="0"/>
          </a:p>
        </p:txBody>
      </p:sp>
      <p:sp>
        <p:nvSpPr>
          <p:cNvPr id="17" name="c4-11"/>
          <p:cNvSpPr/>
          <p:nvPr/>
        </p:nvSpPr>
        <p:spPr>
          <a:xfrm>
            <a:off x="5943600" y="2468880"/>
            <a:ext cx="2743200" cy="960120"/>
          </a:xfrm>
          <a:prstGeom prst="roundRect">
            <a:avLst>
              <a:gd name="adj" fmla="val 9524"/>
            </a:avLst>
          </a:prstGeom>
          <a:solidFill>
            <a:srgbClr val="133E47"/>
          </a:solidFill>
          <a:ln/>
        </p:spPr>
      </p:sp>
      <p:sp>
        <p:nvSpPr>
          <p:cNvPr id="18" name="c4-21"/>
          <p:cNvSpPr/>
          <p:nvPr/>
        </p:nvSpPr>
        <p:spPr>
          <a:xfrm>
            <a:off x="6080760" y="2715768"/>
            <a:ext cx="457200" cy="457200"/>
          </a:xfrm>
          <a:prstGeom prst="ellipse">
            <a:avLst/>
          </a:prstGeom>
          <a:solidFill>
            <a:srgbClr val="5FD3B5"/>
          </a:solidFill>
          <a:ln/>
        </p:spPr>
      </p:sp>
      <p:pic>
        <p:nvPicPr>
          <p:cNvPr id="19" name="c4-31" descr="preencoded.png"/>
          <p:cNvPicPr>
            <a:picLocks noChangeAspect="1"/>
          </p:cNvPicPr>
          <p:nvPr/>
        </p:nvPicPr>
        <p:blipFill>
          <a:blip r:embed="rId4"/>
          <a:stretch>
            <a:fillRect/>
          </a:stretch>
        </p:blipFill>
        <p:spPr>
          <a:xfrm>
            <a:off x="6195060" y="2830068"/>
            <a:ext cx="228600" cy="228600"/>
          </a:xfrm>
          <a:prstGeom prst="rect">
            <a:avLst/>
          </a:prstGeom>
        </p:spPr>
      </p:pic>
      <p:sp>
        <p:nvSpPr>
          <p:cNvPr id="20" name="c4-41"/>
          <p:cNvSpPr txBox="1"/>
          <p:nvPr/>
        </p:nvSpPr>
        <p:spPr>
          <a:xfrm>
            <a:off x="6675120" y="2560320"/>
            <a:ext cx="1920240" cy="7772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Sostenible</a:t>
            </a:r>
            <a:endParaRPr lang="en-US" sz="1300" dirty="0"/>
          </a:p>
          <a:p>
            <a:pPr marL="0" indent="0">
              <a:buNone/>
            </a:pPr>
            <a:r>
              <a:rPr lang="en-US" sz="1050" dirty="0">
                <a:solidFill>
                  <a:srgbClr val="CFE3E0"/>
                </a:solidFill>
                <a:latin typeface="Calibri" pitchFamily="34" charset="0"/>
                <a:ea typeface="Calibri" pitchFamily="34" charset="-122"/>
                <a:cs typeface="Calibri" pitchFamily="34" charset="-120"/>
              </a:rPr>
              <a:t>La IA corre en el dispositivo: servidor barato y el video no sale de casa.</a:t>
            </a:r>
            <a:endParaRPr lang="en-US" sz="1300" dirty="0"/>
          </a:p>
        </p:txBody>
      </p:sp>
      <p:sp>
        <p:nvSpPr>
          <p:cNvPr id="21" name="c4-12"/>
          <p:cNvSpPr/>
          <p:nvPr/>
        </p:nvSpPr>
        <p:spPr>
          <a:xfrm>
            <a:off x="5943600" y="3566160"/>
            <a:ext cx="2743200" cy="960120"/>
          </a:xfrm>
          <a:prstGeom prst="roundRect">
            <a:avLst>
              <a:gd name="adj" fmla="val 9524"/>
            </a:avLst>
          </a:prstGeom>
          <a:solidFill>
            <a:srgbClr val="133E47"/>
          </a:solidFill>
          <a:ln/>
        </p:spPr>
      </p:sp>
      <p:sp>
        <p:nvSpPr>
          <p:cNvPr id="22" name="c4-22"/>
          <p:cNvSpPr/>
          <p:nvPr/>
        </p:nvSpPr>
        <p:spPr>
          <a:xfrm>
            <a:off x="6080760" y="3813048"/>
            <a:ext cx="457200" cy="457200"/>
          </a:xfrm>
          <a:prstGeom prst="ellipse">
            <a:avLst/>
          </a:prstGeom>
          <a:solidFill>
            <a:srgbClr val="5FD3B5"/>
          </a:solidFill>
          <a:ln/>
        </p:spPr>
      </p:sp>
      <p:pic>
        <p:nvPicPr>
          <p:cNvPr id="23" name="c4-32" descr="preencoded.png"/>
          <p:cNvPicPr>
            <a:picLocks noChangeAspect="1"/>
          </p:cNvPicPr>
          <p:nvPr/>
        </p:nvPicPr>
        <p:blipFill>
          <a:blip r:embed="rId5"/>
          <a:stretch>
            <a:fillRect/>
          </a:stretch>
        </p:blipFill>
        <p:spPr>
          <a:xfrm>
            <a:off x="6195060" y="3927348"/>
            <a:ext cx="228600" cy="228600"/>
          </a:xfrm>
          <a:prstGeom prst="rect">
            <a:avLst/>
          </a:prstGeom>
        </p:spPr>
      </p:pic>
      <p:sp>
        <p:nvSpPr>
          <p:cNvPr id="24" name="c4-42"/>
          <p:cNvSpPr txBox="1"/>
          <p:nvPr/>
        </p:nvSpPr>
        <p:spPr>
          <a:xfrm>
            <a:off x="6675120" y="3657600"/>
            <a:ext cx="1920240" cy="7772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Valor</a:t>
            </a:r>
            <a:endParaRPr lang="en-US" sz="1300" dirty="0"/>
          </a:p>
          <a:p>
            <a:pPr marL="0" indent="0">
              <a:buNone/>
            </a:pPr>
            <a:r>
              <a:rPr lang="en-US" sz="1050" dirty="0">
                <a:solidFill>
                  <a:srgbClr val="CFE3E0"/>
                </a:solidFill>
                <a:latin typeface="Calibri" pitchFamily="34" charset="0"/>
                <a:ea typeface="Calibri" pitchFamily="34" charset="-122"/>
                <a:cs typeface="Calibri" pitchFamily="34" charset="-120"/>
              </a:rPr>
              <a:t>El paciente sabe si lo hace bien; el terapeuta sigue a más pacientes.</a:t>
            </a:r>
            <a:endParaRPr lang="en-US" sz="1300" dirty="0"/>
          </a:p>
        </p:txBody>
      </p:sp>
      <p:sp>
        <p:nvSpPr>
          <p:cNvPr id="25" name="Text 20"/>
          <p:cNvSpPr txBox="1"/>
          <p:nvPr/>
        </p:nvSpPr>
        <p:spPr>
          <a:xfrm>
            <a:off x="457200" y="4818888"/>
            <a:ext cx="914400" cy="219456"/>
          </a:xfrm>
          <a:prstGeom prst="rect">
            <a:avLst/>
          </a:prstGeom>
          <a:noFill/>
          <a:ln/>
        </p:spPr>
        <p:txBody>
          <a:bodyPr wrap="square" lIns="0" tIns="0" rIns="0" bIns="0" rtlCol="0" anchor="ctr"/>
          <a:lstStyle/>
          <a:p>
            <a:pPr marL="0" indent="0">
              <a:buNone/>
            </a:pPr>
            <a:r>
              <a:rPr lang="en-US" sz="900" dirty="0">
                <a:solidFill>
                  <a:srgbClr val="8FB3AF"/>
                </a:solidFill>
                <a:latin typeface="Calibri" pitchFamily="34" charset="0"/>
                <a:ea typeface="Calibri" pitchFamily="34" charset="-122"/>
                <a:cs typeface="Calibri" pitchFamily="34" charset="-120"/>
              </a:rPr>
              <a:t>8 / 9</a:t>
            </a:r>
            <a:endParaRPr lang="en-US" sz="900" dirty="0"/>
          </a:p>
        </p:txBody>
      </p:sp>
      <p:sp>
        <p:nvSpPr>
          <p:cNvPr id="26" name="nav1">
            <a:hlinkClick r:id="rId6" action="ppaction://hlinksldjump"/>
          </p:cNvPr>
          <p:cNvSpPr/>
          <p:nvPr/>
        </p:nvSpPr>
        <p:spPr>
          <a:xfrm>
            <a:off x="4242816" y="4818888"/>
            <a:ext cx="73152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Problema</a:t>
            </a:r>
            <a:endParaRPr lang="en-US" sz="900" dirty="0"/>
          </a:p>
        </p:txBody>
      </p:sp>
      <p:sp>
        <p:nvSpPr>
          <p:cNvPr id="27" name="nav3">
            <a:hlinkClick r:id="rId7" action="ppaction://hlinksldjump"/>
          </p:cNvPr>
          <p:cNvSpPr/>
          <p:nvPr/>
        </p:nvSpPr>
        <p:spPr>
          <a:xfrm>
            <a:off x="5029200" y="4818888"/>
            <a:ext cx="713232"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Solución</a:t>
            </a:r>
            <a:endParaRPr lang="en-US" sz="900" dirty="0"/>
          </a:p>
        </p:txBody>
      </p:sp>
      <p:sp>
        <p:nvSpPr>
          <p:cNvPr id="28" name="nav5">
            <a:hlinkClick r:id="rId8" action="ppaction://hlinksldjump"/>
          </p:cNvPr>
          <p:cNvSpPr/>
          <p:nvPr/>
        </p:nvSpPr>
        <p:spPr>
          <a:xfrm>
            <a:off x="5797296" y="4818888"/>
            <a:ext cx="100584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Cómo funciona</a:t>
            </a:r>
            <a:endParaRPr lang="en-US" sz="900" dirty="0"/>
          </a:p>
        </p:txBody>
      </p:sp>
      <p:sp>
        <p:nvSpPr>
          <p:cNvPr id="29" name="nav7">
            <a:hlinkClick r:id="rId9" action="ppaction://hlinksldjump"/>
          </p:cNvPr>
          <p:cNvSpPr/>
          <p:nvPr/>
        </p:nvSpPr>
        <p:spPr>
          <a:xfrm>
            <a:off x="6858000" y="4818888"/>
            <a:ext cx="45720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MVP</a:t>
            </a:r>
            <a:endParaRPr lang="en-US" sz="900" dirty="0"/>
          </a:p>
        </p:txBody>
      </p:sp>
      <p:sp>
        <p:nvSpPr>
          <p:cNvPr id="30" name="nav8">
            <a:hlinkClick r:id="rId10" action="ppaction://hlinksldjump"/>
          </p:cNvPr>
          <p:cNvSpPr/>
          <p:nvPr/>
        </p:nvSpPr>
        <p:spPr>
          <a:xfrm>
            <a:off x="7370064" y="4818888"/>
            <a:ext cx="694944" cy="219456"/>
          </a:xfrm>
          <a:prstGeom prst="roundRect">
            <a:avLst>
              <a:gd name="adj" fmla="val 50000"/>
            </a:avLst>
          </a:prstGeom>
          <a:solidFill>
            <a:srgbClr val="5FD3B5"/>
          </a:solidFill>
          <a:ln/>
        </p:spPr>
        <p:txBody>
          <a:bodyPr wrap="square" lIns="0" tIns="0" rIns="0" bIns="0" rtlCol="0" anchor="ctr"/>
          <a:lstStyle/>
          <a:p>
            <a:pPr marL="0" indent="0" algn="ctr">
              <a:buNone/>
            </a:pPr>
            <a:r>
              <a:rPr lang="en-US" sz="900" b="1" dirty="0">
                <a:solidFill>
                  <a:srgbClr val="0B2B33"/>
                </a:solidFill>
                <a:latin typeface="Calibri" pitchFamily="34" charset="0"/>
                <a:ea typeface="Calibri" pitchFamily="34" charset="-122"/>
                <a:cs typeface="Calibri" pitchFamily="34" charset="-120"/>
              </a:rPr>
              <a:t>Negocio</a:t>
            </a:r>
            <a:endParaRPr lang="en-US" sz="900" dirty="0"/>
          </a:p>
        </p:txBody>
      </p:sp>
      <p:sp>
        <p:nvSpPr>
          <p:cNvPr id="31" name="nav9">
            <a:hlinkClick r:id="rId11" action="ppaction://hlinksldjump"/>
          </p:cNvPr>
          <p:cNvSpPr/>
          <p:nvPr/>
        </p:nvSpPr>
        <p:spPr>
          <a:xfrm>
            <a:off x="8119872" y="4818888"/>
            <a:ext cx="566928"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Cierre</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5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5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5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45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45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B33"/>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572000" cy="274320"/>
          </a:xfrm>
          <a:prstGeom prst="rect">
            <a:avLst/>
          </a:prstGeom>
          <a:noFill/>
          <a:ln/>
        </p:spPr>
        <p:txBody>
          <a:bodyPr wrap="square" lIns="0" tIns="0" rIns="0" bIns="0" rtlCol="0" anchor="ctr"/>
          <a:lstStyle/>
          <a:p>
            <a:pPr marL="0" indent="0">
              <a:buNone/>
            </a:pPr>
            <a:r>
              <a:rPr lang="en-US" sz="1100" b="1" kern="0" spc="300" dirty="0">
                <a:solidFill>
                  <a:srgbClr val="5FD3B5"/>
                </a:solidFill>
                <a:latin typeface="Calibri" pitchFamily="34" charset="0"/>
                <a:ea typeface="Calibri" pitchFamily="34" charset="-122"/>
                <a:cs typeface="Calibri" pitchFamily="34" charset="-120"/>
              </a:rPr>
              <a:t>CIERRE</a:t>
            </a:r>
            <a:endParaRPr lang="en-US" sz="1100" dirty="0"/>
          </a:p>
        </p:txBody>
      </p:sp>
      <p:sp>
        <p:nvSpPr>
          <p:cNvPr id="3" name="Text 1"/>
          <p:cNvSpPr txBox="1"/>
          <p:nvPr/>
        </p:nvSpPr>
        <p:spPr>
          <a:xfrm>
            <a:off x="457200" y="685800"/>
            <a:ext cx="8229600" cy="12801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No queremos contar repeticiones.</a:t>
            </a:r>
            <a:endParaRPr lang="en-US" sz="2800" dirty="0"/>
          </a:p>
          <a:p>
            <a:pPr marL="0" indent="0">
              <a:buNone/>
            </a:pPr>
            <a:r>
              <a:rPr lang="en-US" sz="2800" b="1" dirty="0" err="1">
                <a:solidFill>
                  <a:srgbClr val="5FD3B5"/>
                </a:solidFill>
                <a:latin typeface="Arial" pitchFamily="34" charset="0"/>
                <a:ea typeface="Arial" pitchFamily="34" charset="-122"/>
                <a:cs typeface="Arial" pitchFamily="34" charset="-120"/>
              </a:rPr>
              <a:t>Queremos</a:t>
            </a:r>
            <a:r>
              <a:rPr lang="en-US" sz="2800" b="1" dirty="0">
                <a:solidFill>
                  <a:srgbClr val="5FD3B5"/>
                </a:solidFill>
                <a:latin typeface="Arial" pitchFamily="34" charset="0"/>
                <a:ea typeface="Arial" pitchFamily="34" charset="-122"/>
                <a:cs typeface="Arial" pitchFamily="34" charset="-120"/>
              </a:rPr>
              <a:t> </a:t>
            </a:r>
            <a:r>
              <a:rPr lang="en-US" sz="2800" b="1" dirty="0" err="1">
                <a:solidFill>
                  <a:srgbClr val="5FD3B5"/>
                </a:solidFill>
                <a:latin typeface="Arial" pitchFamily="34" charset="0"/>
                <a:ea typeface="Arial" pitchFamily="34" charset="-122"/>
                <a:cs typeface="Arial" pitchFamily="34" charset="-120"/>
              </a:rPr>
              <a:t>darte</a:t>
            </a:r>
            <a:r>
              <a:rPr lang="en-US" sz="2800" b="1" dirty="0">
                <a:solidFill>
                  <a:srgbClr val="5FD3B5"/>
                </a:solidFill>
                <a:latin typeface="Arial" pitchFamily="34" charset="0"/>
                <a:ea typeface="Arial" pitchFamily="34" charset="-122"/>
                <a:cs typeface="Arial" pitchFamily="34" charset="-120"/>
              </a:rPr>
              <a:t> </a:t>
            </a:r>
            <a:r>
              <a:rPr lang="en-US" sz="2800" b="1" dirty="0" err="1">
                <a:solidFill>
                  <a:srgbClr val="5FD3B5"/>
                </a:solidFill>
                <a:latin typeface="Arial" pitchFamily="34" charset="0"/>
                <a:ea typeface="Arial" pitchFamily="34" charset="-122"/>
                <a:cs typeface="Arial" pitchFamily="34" charset="-120"/>
              </a:rPr>
              <a:t>calidad</a:t>
            </a:r>
            <a:r>
              <a:rPr lang="en-US" sz="2800" b="1" dirty="0">
                <a:solidFill>
                  <a:srgbClr val="5FD3B5"/>
                </a:solidFill>
                <a:latin typeface="Arial" pitchFamily="34" charset="0"/>
                <a:ea typeface="Arial" pitchFamily="34" charset="-122"/>
                <a:cs typeface="Arial" pitchFamily="34" charset="-120"/>
              </a:rPr>
              <a:t> </a:t>
            </a:r>
            <a:r>
              <a:rPr lang="en-US" sz="2800" b="1" dirty="0" err="1">
                <a:solidFill>
                  <a:srgbClr val="5FD3B5"/>
                </a:solidFill>
                <a:latin typeface="Arial" pitchFamily="34" charset="0"/>
                <a:ea typeface="Arial" pitchFamily="34" charset="-122"/>
                <a:cs typeface="Arial" pitchFamily="34" charset="-120"/>
              </a:rPr>
              <a:t>en</a:t>
            </a:r>
            <a:r>
              <a:rPr lang="en-US" sz="2800" b="1" dirty="0">
                <a:solidFill>
                  <a:srgbClr val="5FD3B5"/>
                </a:solidFill>
                <a:latin typeface="Arial" pitchFamily="34" charset="0"/>
                <a:ea typeface="Arial" pitchFamily="34" charset="-122"/>
                <a:cs typeface="Arial" pitchFamily="34" charset="-120"/>
              </a:rPr>
              <a:t> el movimiento.</a:t>
            </a:r>
            <a:endParaRPr lang="en-US" sz="2800" dirty="0"/>
          </a:p>
        </p:txBody>
      </p:sp>
      <p:sp>
        <p:nvSpPr>
          <p:cNvPr id="4" name="c1-1"/>
          <p:cNvSpPr/>
          <p:nvPr/>
        </p:nvSpPr>
        <p:spPr>
          <a:xfrm>
            <a:off x="457200" y="2286000"/>
            <a:ext cx="2377440" cy="685800"/>
          </a:xfrm>
          <a:prstGeom prst="roundRect">
            <a:avLst>
              <a:gd name="adj" fmla="val 16000"/>
            </a:avLst>
          </a:prstGeom>
          <a:solidFill>
            <a:srgbClr val="133E47"/>
          </a:solidFill>
          <a:ln/>
        </p:spPr>
        <p:txBody>
          <a:bodyPr wrap="square" lIns="73660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Movimiento</a:t>
            </a:r>
            <a:endParaRPr lang="en-US" sz="1700" dirty="0"/>
          </a:p>
        </p:txBody>
      </p:sp>
      <p:pic>
        <p:nvPicPr>
          <p:cNvPr id="5" name="c1-2" descr="preencoded.png"/>
          <p:cNvPicPr>
            <a:picLocks noChangeAspect="1"/>
          </p:cNvPicPr>
          <p:nvPr/>
        </p:nvPicPr>
        <p:blipFill>
          <a:blip r:embed="rId3"/>
          <a:stretch>
            <a:fillRect/>
          </a:stretch>
        </p:blipFill>
        <p:spPr>
          <a:xfrm>
            <a:off x="685800" y="2441448"/>
            <a:ext cx="365760" cy="365760"/>
          </a:xfrm>
          <a:prstGeom prst="rect">
            <a:avLst/>
          </a:prstGeom>
        </p:spPr>
      </p:pic>
      <p:sp>
        <p:nvSpPr>
          <p:cNvPr id="6" name="c2-3"/>
          <p:cNvSpPr txBox="1"/>
          <p:nvPr/>
        </p:nvSpPr>
        <p:spPr>
          <a:xfrm>
            <a:off x="2834640" y="2286000"/>
            <a:ext cx="457200" cy="685800"/>
          </a:xfrm>
          <a:prstGeom prst="rect">
            <a:avLst/>
          </a:prstGeom>
          <a:noFill/>
          <a:ln/>
        </p:spPr>
        <p:txBody>
          <a:bodyPr wrap="square" lIns="0" tIns="0" rIns="0" bIns="0" rtlCol="0" anchor="ctr"/>
          <a:lstStyle/>
          <a:p>
            <a:pPr marL="0" indent="0" algn="ctr">
              <a:buNone/>
            </a:pPr>
            <a:r>
              <a:rPr lang="en-US" sz="2600" b="1" dirty="0">
                <a:solidFill>
                  <a:srgbClr val="5FD3B5"/>
                </a:solidFill>
                <a:latin typeface="Arial" pitchFamily="34" charset="0"/>
                <a:ea typeface="Arial" pitchFamily="34" charset="-122"/>
                <a:cs typeface="Arial" pitchFamily="34" charset="-120"/>
              </a:rPr>
              <a:t>→</a:t>
            </a:r>
            <a:endParaRPr lang="en-US" sz="2600" dirty="0"/>
          </a:p>
        </p:txBody>
      </p:sp>
      <p:sp>
        <p:nvSpPr>
          <p:cNvPr id="7" name="c2-1"/>
          <p:cNvSpPr/>
          <p:nvPr/>
        </p:nvSpPr>
        <p:spPr>
          <a:xfrm>
            <a:off x="3291840" y="2286000"/>
            <a:ext cx="2377440" cy="685800"/>
          </a:xfrm>
          <a:prstGeom prst="roundRect">
            <a:avLst>
              <a:gd name="adj" fmla="val 16000"/>
            </a:avLst>
          </a:prstGeom>
          <a:solidFill>
            <a:srgbClr val="133E47"/>
          </a:solidFill>
          <a:ln/>
        </p:spPr>
        <p:txBody>
          <a:bodyPr wrap="square" lIns="73660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Datos</a:t>
            </a:r>
            <a:endParaRPr lang="en-US" sz="1700" dirty="0"/>
          </a:p>
        </p:txBody>
      </p:sp>
      <p:pic>
        <p:nvPicPr>
          <p:cNvPr id="8" name="c2-2" descr="preencoded.png"/>
          <p:cNvPicPr>
            <a:picLocks noChangeAspect="1"/>
          </p:cNvPicPr>
          <p:nvPr/>
        </p:nvPicPr>
        <p:blipFill>
          <a:blip r:embed="rId4"/>
          <a:stretch>
            <a:fillRect/>
          </a:stretch>
        </p:blipFill>
        <p:spPr>
          <a:xfrm>
            <a:off x="3520440" y="2441448"/>
            <a:ext cx="365760" cy="365760"/>
          </a:xfrm>
          <a:prstGeom prst="rect">
            <a:avLst/>
          </a:prstGeom>
        </p:spPr>
      </p:pic>
      <p:sp>
        <p:nvSpPr>
          <p:cNvPr id="9" name="c3-3"/>
          <p:cNvSpPr txBox="1"/>
          <p:nvPr/>
        </p:nvSpPr>
        <p:spPr>
          <a:xfrm>
            <a:off x="5669280" y="2286000"/>
            <a:ext cx="457200" cy="685800"/>
          </a:xfrm>
          <a:prstGeom prst="rect">
            <a:avLst/>
          </a:prstGeom>
          <a:noFill/>
          <a:ln/>
        </p:spPr>
        <p:txBody>
          <a:bodyPr wrap="square" lIns="0" tIns="0" rIns="0" bIns="0" rtlCol="0" anchor="ctr"/>
          <a:lstStyle/>
          <a:p>
            <a:pPr marL="0" indent="0" algn="ctr">
              <a:buNone/>
            </a:pPr>
            <a:r>
              <a:rPr lang="en-US" sz="2600" b="1" dirty="0">
                <a:solidFill>
                  <a:srgbClr val="5FD3B5"/>
                </a:solidFill>
                <a:latin typeface="Arial" pitchFamily="34" charset="0"/>
                <a:ea typeface="Arial" pitchFamily="34" charset="-122"/>
                <a:cs typeface="Arial" pitchFamily="34" charset="-120"/>
              </a:rPr>
              <a:t>→</a:t>
            </a:r>
            <a:endParaRPr lang="en-US" sz="2600" dirty="0"/>
          </a:p>
        </p:txBody>
      </p:sp>
      <p:sp>
        <p:nvSpPr>
          <p:cNvPr id="10" name="c3-1"/>
          <p:cNvSpPr/>
          <p:nvPr/>
        </p:nvSpPr>
        <p:spPr>
          <a:xfrm>
            <a:off x="6126480" y="2286000"/>
            <a:ext cx="2377440" cy="685800"/>
          </a:xfrm>
          <a:prstGeom prst="roundRect">
            <a:avLst>
              <a:gd name="adj" fmla="val 16000"/>
            </a:avLst>
          </a:prstGeom>
          <a:solidFill>
            <a:srgbClr val="FF6B5B"/>
          </a:solidFill>
          <a:ln/>
        </p:spPr>
        <p:txBody>
          <a:bodyPr wrap="square" lIns="73660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Feedback útil</a:t>
            </a:r>
            <a:endParaRPr lang="en-US" sz="1700" dirty="0"/>
          </a:p>
        </p:txBody>
      </p:sp>
      <p:pic>
        <p:nvPicPr>
          <p:cNvPr id="11" name="c3-2" descr="preencoded.png"/>
          <p:cNvPicPr>
            <a:picLocks noChangeAspect="1"/>
          </p:cNvPicPr>
          <p:nvPr/>
        </p:nvPicPr>
        <p:blipFill>
          <a:blip r:embed="rId5"/>
          <a:stretch>
            <a:fillRect/>
          </a:stretch>
        </p:blipFill>
        <p:spPr>
          <a:xfrm>
            <a:off x="6355080" y="2441448"/>
            <a:ext cx="365760" cy="365760"/>
          </a:xfrm>
          <a:prstGeom prst="rect">
            <a:avLst/>
          </a:prstGeom>
        </p:spPr>
      </p:pic>
      <p:sp>
        <p:nvSpPr>
          <p:cNvPr id="12" name="c4-1"/>
          <p:cNvSpPr/>
          <p:nvPr/>
        </p:nvSpPr>
        <p:spPr>
          <a:xfrm>
            <a:off x="457200" y="3328416"/>
            <a:ext cx="4846320" cy="1325880"/>
          </a:xfrm>
          <a:prstGeom prst="roundRect">
            <a:avLst>
              <a:gd name="adj" fmla="val 8276"/>
            </a:avLst>
          </a:prstGeom>
          <a:solidFill>
            <a:srgbClr val="133E47"/>
          </a:solidFill>
          <a:ln/>
        </p:spPr>
        <p:txBody>
          <a:bodyPr wrap="square" lIns="177800" tIns="177800" rIns="177800" bIns="177800" rtlCol="0" anchor="t"/>
          <a:lstStyle/>
          <a:p>
            <a:pPr marL="0" indent="0">
              <a:spcAft>
                <a:spcPts val="300"/>
              </a:spcAft>
              <a:buNone/>
            </a:pPr>
            <a:r>
              <a:rPr lang="en-US" sz="1400" b="1" dirty="0">
                <a:solidFill>
                  <a:srgbClr val="FFFFFF"/>
                </a:solidFill>
                <a:latin typeface="Arial" pitchFamily="34" charset="0"/>
                <a:ea typeface="Arial" pitchFamily="34" charset="-122"/>
                <a:cs typeface="Arial" pitchFamily="34" charset="-120"/>
              </a:rPr>
              <a:t>Equipo</a:t>
            </a:r>
            <a:endParaRPr lang="en-US" sz="1200" dirty="0"/>
          </a:p>
          <a:p>
            <a:r>
              <a:rPr lang="en-US" sz="1200" b="1" dirty="0">
                <a:solidFill>
                  <a:srgbClr val="92D050"/>
                </a:solidFill>
                <a:latin typeface="Calibri" pitchFamily="34" charset="0"/>
                <a:ea typeface="Calibri" pitchFamily="34" charset="-122"/>
                <a:cs typeface="Calibri" pitchFamily="34" charset="-120"/>
              </a:rPr>
              <a:t>Diego Sanchez  - </a:t>
            </a:r>
            <a:r>
              <a:rPr lang="en-US" sz="1200" dirty="0">
                <a:solidFill>
                  <a:srgbClr val="CFE3E0"/>
                </a:solidFill>
                <a:latin typeface="Calibri" pitchFamily="34" charset="0"/>
                <a:ea typeface="Calibri" pitchFamily="34" charset="-122"/>
                <a:cs typeface="Calibri" pitchFamily="34" charset="-120"/>
              </a:rPr>
              <a:t>Product Engineer (Frontend, streaming, database, </a:t>
            </a:r>
            <a:r>
              <a:rPr lang="en-US" sz="1200" dirty="0" err="1">
                <a:solidFill>
                  <a:srgbClr val="CFE3E0"/>
                </a:solidFill>
                <a:latin typeface="Calibri" pitchFamily="34" charset="0"/>
                <a:ea typeface="Calibri" pitchFamily="34" charset="-122"/>
                <a:cs typeface="Calibri" pitchFamily="34" charset="-120"/>
              </a:rPr>
              <a:t>api</a:t>
            </a:r>
            <a:r>
              <a:rPr lang="en-US" sz="1200" dirty="0">
                <a:solidFill>
                  <a:srgbClr val="CFE3E0"/>
                </a:solidFill>
                <a:latin typeface="Calibri" pitchFamily="34" charset="0"/>
                <a:ea typeface="Calibri" pitchFamily="34" charset="-122"/>
                <a:cs typeface="Calibri" pitchFamily="34" charset="-120"/>
              </a:rPr>
              <a:t>) </a:t>
            </a:r>
          </a:p>
          <a:p>
            <a:r>
              <a:rPr lang="en-US" sz="1200" b="1" dirty="0">
                <a:solidFill>
                  <a:srgbClr val="92D050"/>
                </a:solidFill>
                <a:latin typeface="Calibri" pitchFamily="34" charset="0"/>
                <a:ea typeface="Calibri" pitchFamily="34" charset="-122"/>
                <a:cs typeface="Calibri" pitchFamily="34" charset="-120"/>
              </a:rPr>
              <a:t>Yessenia Chirinos - </a:t>
            </a:r>
            <a:r>
              <a:rPr lang="en-US" sz="1200" dirty="0">
                <a:solidFill>
                  <a:srgbClr val="CFE3E0"/>
                </a:solidFill>
                <a:latin typeface="Calibri" pitchFamily="34" charset="0"/>
                <a:ea typeface="Calibri" pitchFamily="34" charset="-122"/>
                <a:cs typeface="Calibri" pitchFamily="34" charset="-120"/>
              </a:rPr>
              <a:t>Validation Engineer (Train/test, </a:t>
            </a:r>
            <a:r>
              <a:rPr lang="en-US" sz="1200" dirty="0" err="1">
                <a:solidFill>
                  <a:srgbClr val="CFE3E0"/>
                </a:solidFill>
                <a:latin typeface="Calibri" pitchFamily="34" charset="0"/>
                <a:ea typeface="Calibri" pitchFamily="34" charset="-122"/>
                <a:cs typeface="Calibri" pitchFamily="34" charset="-120"/>
              </a:rPr>
              <a:t>movimientos</a:t>
            </a:r>
            <a:r>
              <a:rPr lang="en-US" sz="1200" dirty="0">
                <a:solidFill>
                  <a:srgbClr val="CFE3E0"/>
                </a:solidFill>
                <a:latin typeface="Calibri" pitchFamily="34" charset="0"/>
                <a:ea typeface="Calibri" pitchFamily="34" charset="-122"/>
                <a:cs typeface="Calibri" pitchFamily="34" charset="-120"/>
              </a:rPr>
              <a:t>, vias)</a:t>
            </a:r>
          </a:p>
          <a:p>
            <a:r>
              <a:rPr lang="en-US" sz="1200" b="1" dirty="0">
                <a:solidFill>
                  <a:srgbClr val="92D050"/>
                </a:solidFill>
                <a:latin typeface="Calibri" pitchFamily="34" charset="0"/>
                <a:ea typeface="Calibri" pitchFamily="34" charset="-122"/>
                <a:cs typeface="Calibri" pitchFamily="34" charset="-120"/>
              </a:rPr>
              <a:t>Estuardo Oliver – </a:t>
            </a:r>
            <a:r>
              <a:rPr lang="en-US" sz="1200" dirty="0">
                <a:solidFill>
                  <a:srgbClr val="CFE3E0"/>
                </a:solidFill>
                <a:latin typeface="Calibri" pitchFamily="34" charset="0"/>
                <a:ea typeface="Calibri" pitchFamily="34" charset="-122"/>
                <a:cs typeface="Calibri" pitchFamily="34" charset="-120"/>
              </a:rPr>
              <a:t>Computer Visión / ML (</a:t>
            </a:r>
            <a:r>
              <a:rPr lang="en-US" sz="1200" dirty="0" err="1">
                <a:solidFill>
                  <a:srgbClr val="CFE3E0"/>
                </a:solidFill>
                <a:latin typeface="Calibri" pitchFamily="34" charset="0"/>
                <a:ea typeface="Calibri" pitchFamily="34" charset="-122"/>
                <a:cs typeface="Calibri" pitchFamily="34" charset="-120"/>
              </a:rPr>
              <a:t>Keypoints</a:t>
            </a:r>
            <a:r>
              <a:rPr lang="en-US" sz="1200" dirty="0">
                <a:solidFill>
                  <a:srgbClr val="CFE3E0"/>
                </a:solidFill>
                <a:latin typeface="Calibri" pitchFamily="34" charset="0"/>
                <a:ea typeface="Calibri" pitchFamily="34" charset="-122"/>
                <a:cs typeface="Calibri" pitchFamily="34" charset="-120"/>
              </a:rPr>
              <a:t>, DTW, tracking)</a:t>
            </a:r>
          </a:p>
        </p:txBody>
      </p:sp>
      <p:sp>
        <p:nvSpPr>
          <p:cNvPr id="13" name="c5-1"/>
          <p:cNvSpPr/>
          <p:nvPr/>
        </p:nvSpPr>
        <p:spPr>
          <a:xfrm>
            <a:off x="5577840" y="3337560"/>
            <a:ext cx="3108960" cy="1325880"/>
          </a:xfrm>
          <a:prstGeom prst="roundRect">
            <a:avLst>
              <a:gd name="adj" fmla="val 8276"/>
            </a:avLst>
          </a:prstGeom>
          <a:solidFill>
            <a:srgbClr val="FF6B5B"/>
          </a:solidFill>
          <a:ln/>
        </p:spPr>
        <p:txBody>
          <a:bodyPr wrap="square" lIns="177800" tIns="177800" rIns="177800" bIns="177800" rtlCol="0" anchor="ctr"/>
          <a:lstStyle/>
          <a:p>
            <a:pPr marL="0" indent="0">
              <a:buNone/>
            </a:pPr>
            <a:r>
              <a:rPr lang="en-US" sz="1500" b="1" dirty="0">
                <a:solidFill>
                  <a:srgbClr val="FFFFFF"/>
                </a:solidFill>
                <a:latin typeface="Arial" pitchFamily="34" charset="0"/>
                <a:ea typeface="Arial" pitchFamily="34" charset="-122"/>
                <a:cs typeface="Arial" pitchFamily="34" charset="-120"/>
              </a:rPr>
              <a:t>Buscamos 3 clínicas piloto</a:t>
            </a:r>
            <a:endParaRPr lang="en-US" sz="1500" dirty="0"/>
          </a:p>
          <a:p>
            <a:pPr marL="0" indent="0">
              <a:buNone/>
            </a:pPr>
            <a:r>
              <a:rPr lang="en-US" sz="1300" dirty="0">
                <a:solidFill>
                  <a:srgbClr val="FFFFFF"/>
                </a:solidFill>
                <a:latin typeface="Calibri" pitchFamily="34" charset="0"/>
                <a:ea typeface="Calibri" pitchFamily="34" charset="-122"/>
                <a:cs typeface="Calibri" pitchFamily="34" charset="-120"/>
              </a:rPr>
              <a:t>para validar el MVP en 30 días.</a:t>
            </a:r>
            <a:endParaRPr lang="en-US" sz="1500" dirty="0"/>
          </a:p>
          <a:p>
            <a:pPr marL="0" indent="0">
              <a:buNone/>
            </a:pPr>
            <a:r>
              <a:rPr lang="en-US" sz="1300" b="1" dirty="0">
                <a:solidFill>
                  <a:srgbClr val="FFFFFF"/>
                </a:solidFill>
                <a:latin typeface="Calibri" pitchFamily="34" charset="0"/>
                <a:ea typeface="Calibri" pitchFamily="34" charset="-122"/>
                <a:cs typeface="Calibri" pitchFamily="34" charset="-120"/>
              </a:rPr>
              <a:t>¿Se suman?</a:t>
            </a:r>
            <a:endParaRPr lang="en-US" sz="1500" dirty="0"/>
          </a:p>
        </p:txBody>
      </p:sp>
      <p:sp>
        <p:nvSpPr>
          <p:cNvPr id="14" name="Text 9"/>
          <p:cNvSpPr txBox="1"/>
          <p:nvPr/>
        </p:nvSpPr>
        <p:spPr>
          <a:xfrm>
            <a:off x="457200" y="4818888"/>
            <a:ext cx="914400" cy="219456"/>
          </a:xfrm>
          <a:prstGeom prst="rect">
            <a:avLst/>
          </a:prstGeom>
          <a:noFill/>
          <a:ln/>
        </p:spPr>
        <p:txBody>
          <a:bodyPr wrap="square" lIns="0" tIns="0" rIns="0" bIns="0" rtlCol="0" anchor="ctr"/>
          <a:lstStyle/>
          <a:p>
            <a:pPr marL="0" indent="0">
              <a:buNone/>
            </a:pPr>
            <a:r>
              <a:rPr lang="en-US" sz="900" dirty="0">
                <a:solidFill>
                  <a:srgbClr val="8FB3AF"/>
                </a:solidFill>
                <a:latin typeface="Calibri" pitchFamily="34" charset="0"/>
                <a:ea typeface="Calibri" pitchFamily="34" charset="-122"/>
                <a:cs typeface="Calibri" pitchFamily="34" charset="-120"/>
              </a:rPr>
              <a:t>9 / 9</a:t>
            </a:r>
            <a:endParaRPr lang="en-US" sz="900" dirty="0"/>
          </a:p>
        </p:txBody>
      </p:sp>
      <p:sp>
        <p:nvSpPr>
          <p:cNvPr id="15" name="nav1">
            <a:hlinkClick r:id="rId6" action="ppaction://hlinksldjump"/>
          </p:cNvPr>
          <p:cNvSpPr/>
          <p:nvPr/>
        </p:nvSpPr>
        <p:spPr>
          <a:xfrm>
            <a:off x="4242816" y="4818888"/>
            <a:ext cx="73152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Problema</a:t>
            </a:r>
            <a:endParaRPr lang="en-US" sz="900" dirty="0"/>
          </a:p>
        </p:txBody>
      </p:sp>
      <p:sp>
        <p:nvSpPr>
          <p:cNvPr id="16" name="nav3">
            <a:hlinkClick r:id="rId7" action="ppaction://hlinksldjump"/>
          </p:cNvPr>
          <p:cNvSpPr/>
          <p:nvPr/>
        </p:nvSpPr>
        <p:spPr>
          <a:xfrm>
            <a:off x="5029200" y="4818888"/>
            <a:ext cx="713232"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Solución</a:t>
            </a:r>
            <a:endParaRPr lang="en-US" sz="900" dirty="0"/>
          </a:p>
        </p:txBody>
      </p:sp>
      <p:sp>
        <p:nvSpPr>
          <p:cNvPr id="17" name="nav5">
            <a:hlinkClick r:id="rId8" action="ppaction://hlinksldjump"/>
          </p:cNvPr>
          <p:cNvSpPr/>
          <p:nvPr/>
        </p:nvSpPr>
        <p:spPr>
          <a:xfrm>
            <a:off x="5797296" y="4818888"/>
            <a:ext cx="100584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Cómo funciona</a:t>
            </a:r>
            <a:endParaRPr lang="en-US" sz="900" dirty="0"/>
          </a:p>
        </p:txBody>
      </p:sp>
      <p:sp>
        <p:nvSpPr>
          <p:cNvPr id="18" name="nav7">
            <a:hlinkClick r:id="rId9" action="ppaction://hlinksldjump"/>
          </p:cNvPr>
          <p:cNvSpPr/>
          <p:nvPr/>
        </p:nvSpPr>
        <p:spPr>
          <a:xfrm>
            <a:off x="6858000" y="4818888"/>
            <a:ext cx="457200"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MVP</a:t>
            </a:r>
            <a:endParaRPr lang="en-US" sz="900" dirty="0"/>
          </a:p>
        </p:txBody>
      </p:sp>
      <p:sp>
        <p:nvSpPr>
          <p:cNvPr id="19" name="nav8">
            <a:hlinkClick r:id="rId10" action="ppaction://hlinksldjump"/>
          </p:cNvPr>
          <p:cNvSpPr/>
          <p:nvPr/>
        </p:nvSpPr>
        <p:spPr>
          <a:xfrm>
            <a:off x="7370064" y="4818888"/>
            <a:ext cx="694944" cy="219456"/>
          </a:xfrm>
          <a:prstGeom prst="roundRect">
            <a:avLst>
              <a:gd name="adj" fmla="val 50000"/>
            </a:avLst>
          </a:prstGeom>
          <a:solidFill>
            <a:srgbClr val="FFFFFF">
              <a:alpha val="0"/>
            </a:srgbClr>
          </a:solidFill>
          <a:ln w="9525">
            <a:solidFill>
              <a:srgbClr val="3C6670"/>
            </a:solidFill>
          </a:ln>
        </p:spPr>
        <p:txBody>
          <a:bodyPr wrap="square" lIns="0" tIns="0" rIns="0" bIns="0" rtlCol="0" anchor="ctr"/>
          <a:lstStyle/>
          <a:p>
            <a:pPr marL="0" indent="0" algn="ctr">
              <a:buNone/>
            </a:pPr>
            <a:r>
              <a:rPr lang="en-US" sz="900" dirty="0">
                <a:solidFill>
                  <a:srgbClr val="CFE3E0"/>
                </a:solidFill>
                <a:latin typeface="Calibri" pitchFamily="34" charset="0"/>
                <a:ea typeface="Calibri" pitchFamily="34" charset="-122"/>
                <a:cs typeface="Calibri" pitchFamily="34" charset="-120"/>
              </a:rPr>
              <a:t>Negocio</a:t>
            </a:r>
            <a:endParaRPr lang="en-US" sz="900" dirty="0"/>
          </a:p>
        </p:txBody>
      </p:sp>
      <p:sp>
        <p:nvSpPr>
          <p:cNvPr id="20" name="nav9">
            <a:hlinkClick r:id="rId11" action="ppaction://hlinksldjump"/>
          </p:cNvPr>
          <p:cNvSpPr/>
          <p:nvPr/>
        </p:nvSpPr>
        <p:spPr>
          <a:xfrm>
            <a:off x="8119872" y="4818888"/>
            <a:ext cx="566928" cy="219456"/>
          </a:xfrm>
          <a:prstGeom prst="roundRect">
            <a:avLst>
              <a:gd name="adj" fmla="val 50000"/>
            </a:avLst>
          </a:prstGeom>
          <a:solidFill>
            <a:srgbClr val="5FD3B5"/>
          </a:solidFill>
          <a:ln/>
        </p:spPr>
        <p:txBody>
          <a:bodyPr wrap="square" lIns="0" tIns="0" rIns="0" bIns="0" rtlCol="0" anchor="ctr"/>
          <a:lstStyle/>
          <a:p>
            <a:pPr marL="0" indent="0" algn="ctr">
              <a:buNone/>
            </a:pPr>
            <a:r>
              <a:rPr lang="en-US" sz="900" b="1" dirty="0">
                <a:solidFill>
                  <a:srgbClr val="0B2B33"/>
                </a:solidFill>
                <a:latin typeface="Calibri" pitchFamily="34" charset="0"/>
                <a:ea typeface="Calibri" pitchFamily="34" charset="-122"/>
                <a:cs typeface="Calibri" pitchFamily="34" charset="-120"/>
              </a:rPr>
              <a:t>Cierre</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1712</Words>
  <Application>Microsoft Office PowerPoint</Application>
  <PresentationFormat>Presentación en pantalla (16:9)</PresentationFormat>
  <Paragraphs>245</Paragraphs>
  <Slides>9</Slides>
  <Notes>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9</vt:i4>
      </vt:variant>
    </vt:vector>
  </HeadingPairs>
  <TitlesOfParts>
    <vt:vector size="12"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GYMFITX Rehab — Pitch</dc:title>
  <dc:subject>PptxGenJS Presentation</dc:subject>
  <dc:creator>Estuardo</dc:creator>
  <cp:lastModifiedBy>Estuardo Rafael Oliver Campos</cp:lastModifiedBy>
  <cp:revision>3</cp:revision>
  <dcterms:created xsi:type="dcterms:W3CDTF">2026-09-17T00:31:23Z</dcterms:created>
  <dcterms:modified xsi:type="dcterms:W3CDTF">2026-09-17T01:18:57Z</dcterms:modified>
</cp:coreProperties>
</file>